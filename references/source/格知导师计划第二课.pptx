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notesSlides/notesSlide1.xml" Type="http://schemas.openxmlformats.org/officeDocument/2006/relationships/notesSlide"/><Relationship Id="rId34" Target="notesSlides/notesSlide2.xml" Type="http://schemas.openxmlformats.org/officeDocument/2006/relationships/notesSlide"/><Relationship Id="rId35" Target="notesSlides/notesSlide3.xml" Type="http://schemas.openxmlformats.org/officeDocument/2006/relationships/notesSlide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notesSlides/notesSlide7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0" Target="notesSlides/notesSlide18.xml" Type="http://schemas.openxmlformats.org/officeDocument/2006/relationships/notesSlide"/><Relationship Id="rId51" Target="notesSlides/notesSlide19.xml" Type="http://schemas.openxmlformats.org/officeDocument/2006/relationships/notesSlide"/><Relationship Id="rId52" Target="notesSlides/notesSlide20.xml" Type="http://schemas.openxmlformats.org/officeDocument/2006/relationships/notesSlide"/><Relationship Id="rId53" Target="notesSlides/notesSlide21.xml" Type="http://schemas.openxmlformats.org/officeDocument/2006/relationships/notesSlide"/><Relationship Id="rId54" Target="notesSlides/notesSlide22.xml" Type="http://schemas.openxmlformats.org/officeDocument/2006/relationships/notesSlide"/><Relationship Id="rId55" Target="notesSlides/notesSlide23.xml" Type="http://schemas.openxmlformats.org/officeDocument/2006/relationships/notesSlide"/><Relationship Id="rId56" Target="notesSlides/notesSlide24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欢迎来到格知导师计划第二课。今天我们要讲的主题是"把一个学生服务到底"。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这堂课会带大家走完一个学生从进入格知，到最终录取确认的完整交付链路。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我们会从接档开始，一直讲到方案共创、独立审核和结果闭环。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学完这堂课，你会清楚知道规划师在每一个阶段应该做什么、做到什么标准。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这是今天整堂课的地图。一个学生进入格知之后，会经历六个阶段。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从交付起点开始，到了解学生、形成判断、共创方案、质量把关，最后到结果闭环。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这是一条完整的规划师交付链，每一个阶段都有它明确的任务和标准。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我们会按这个顺序，一个阶段一个阶段地讲清楚。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好，我们进入第一个章节：交付起点。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前端成交只是开始，学生签了约、进了 VIP 群，这并不意味着专业交付已经完成。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规划师真正入场的那一刻，才是专业交付的正式启动。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接下来我们会讲清楚，规划师入场后第一件事应该做什么。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前端已经完成了签约、服务确认和 VIP 群建立，从这一刻开始，规划师正式进入学生服务。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但规划师入场后第一件事，不是马上推荐专业、筛选院校，而是做服务接档。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接档要解决三个基本问题：我正在服务谁？这个家庭目前是什么情况？接下来应该先推进什么？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记住，接档不是走流程，它是信息与责任的正式交接。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一次完整的接档，需要确认四类信息。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第一类是学生情况：年级、选科、成绩阶段、基本情况。第二类是家庭情况：主要联系人、学生参与度、家庭诉求、明显分歧。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第三类是服务情况：产品类型、服务范围、当前阶段、关键节点。第四类是前置信息：销售已经了解到什么、家庭表达过什么、是否存在特殊问题。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接档完成的标准很简单：知道服务谁、解决什么、下一步做什么。达到这三条，才算真正接档完成。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好，我们进入第二个章节：了解学生。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规划师做的方案，最终是为学生做的。所以任何专业判断，都必须建立在对学生足够了解的基础上。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这一章我们会讲，怎么从一份基础资料，走到真正理解这个学生。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包括测评解读的方法，以及怎么通过一个具体的案例，看到同一句话背后的不同原因。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了解学生，不只是收集一份资料。规划师需要了解的维度很多：成绩基础、学科特点、兴趣倾向、性格特征、专业认知、地域偏好、家庭诉求、现实条件。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这一阶段真正要解决的，不是"信息表有没有填完"，而是我们是否已经足够了解这个学生，能够为后续规划提供判断依据。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记住这句话：只有先看见"人"，后面的专业、院校和志愿才有判断依据。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格知会安排学生完成专业测评，测评从兴趣倾向、性格特征、能力特点、职业倾向、专业方向线索多个维度帮助我们系统了解学生。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但测评报告本身不是规划结论。规划师需要结合报告与学生进行解读，在解读过程中同步完成结果验证、信息补充和深度沟通。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通过解读，我们进一步了解学生的学习经历、兴趣来源、学科强弱、专业认知、城市偏好、未来想法、家庭期待和现实顾虑。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记住：测评帮助我们发现线索，解读帮助我们真正看见学生。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我们来看一个具体案例。四个学生都说"我想学计算机"，但深入了解后原因完全不同。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 同学是真正喜欢技术，并有相关体验；B 同学主要看重就业和收入；C 同学主要来自父母建议；D 同学对计算机并不了解，只是不知道还能选什么。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规划师不能只记录"专业意向：计算机"，而要进一步判断：为什么想学？了解多少？是否真实匹配？还有没有其他可能？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记住：记录学生说了什么，只是信息；理解学生为什么这样想，才开始进入规划。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我们进入第三个章节：形成判断。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前面我们花了很多时间了解学生、收集信息，但信息本身不会自动变成方案。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规划师真正的价值，从形成判断开始。你不仅要知道很多信息，还要知道这些信息意味着什么、应该怎么规划。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这一章我们会讲，规划师怎么从信息走向判断，以及判断要回答哪几个核心问题。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测评可以帮助我们理解学生的兴趣倾向、性格特点、职业倾向和行为特点。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但它不能直接决定学生读什么专业、去哪所学校、去哪座城市、未来走什么路径。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真正的规划，需要把测评、成绩、学科能力、学生意愿、家庭条件和升学机会综合起来判断。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记住这句话：测评提供线索，规划师形成判断。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规划判断要回答三个核心问题。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第一，这个学生是谁？他的核心特点、优势、限制、真实诉求是什么？第二，这次规划真正要解决什么？是专业、院校、地域、家庭分歧，还是风险问题？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第三，下一步大致往哪里走？初步专业方向、院校方向、地域方向与发展路径是什么？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记住，只有完成这三个判断，才可以进入初版方案。没有判断就做方案，方案一定是飘的。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我们来看这个案例。家长的表面问题是：云南物化生578分，可以报哪些学校？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但深入了解后我们发现：学生坚持计算机、学生希望省外、家长希望留云南、家庭不能接受高风险、学生对计算机实际认知有限。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于是真正的问题变成了四个维度的组合：专业方向 × 地域选择 × 家庭分歧 × 风险控制。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记住：规划师不是只回答家长提出的问题，而是发现真正需要解决的问题。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我们进入第四个章节：共创方案。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前面我们已经形成了专业判断，但专业判断不等于家庭愿意执行的方案。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第一版方案只是开始，真正成熟的方案，是在讨论和验证中逐渐形成的。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这一章我们会讲，怎么从第一版方案走到家庭真正愿意执行的终稿，以及过程中需要注意什么。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第一版方案，也就是 V1，是专业判断第一次变成"可讨论的方案"。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V1 来自学生信息、测评解读、规划判断、成绩数据、院校专业和家庭诉求的综合。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V1 主要承担三个作用：把规划师的专业判断呈现出来，让学生和家长开始真正比较与选择，暴露尚未解决的问题。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记住：V1 不是最终答案，而是共创的起点。不要期待第一版就完美。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最终方案，不由任何一方单独拍板。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家庭组提供学生真实想法、家庭现实条件、风险承受能力和长期发展偏好。专业组提供信息、专业判断、方案设计和风险控制。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两边的输入合在一起，才形成最终的共创方案。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记住这个分工：规划师负责专业判断，家庭负责价值取舍。两边各做各擅长的事，方案才是真正可执行的。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方案质量，是在多轮讨论中逐渐形成的。方案可能经历 V1 初版、家庭反馈、V2 优化、继续沟通，最后到 V3 候选终稿。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但要注意，每一次调整都不是随便改的，每一次调整都应该回答四个问题：为什么改？谁提出的？解决了什么问题？是否产生新的风险？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版本多少不是标准，核心问题是否真正解决，才是标准。不要为了改而改，每一次迭代都要有明确的目的。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标准化不是机械向前。如果出现学生核心意愿变化、家庭现实条件变化、成绩或位次明显变化、发现重要专业限制、出现新的重大风险，就不能机械继续推进。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应该回到对应阶段，重新判断，再进入方案。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记住这句话：真正的 SOP，不是只知道下一步是什么，而是知道什么时候必须重新判断。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允许回退，才是专业的表现。硬着头皮往前走，只会把错误越放越大。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我们进入第五个章节：质量把关。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方案做出来了，不代表它就没问题。自己做的方案，不能自己给自己打满分。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从"我们觉得可以"，到"方案真正经得起检查"，中间必须有独立的质量把关环节。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这一章我们会讲独立审核怎么运作，以及审核通过后家庭最终确认要做什么。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候选终稿必须进入独立审核，这是方案进入填报前的质量门。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审核重点看三个问题：逻辑审核看整体结构是否合理，机会审核看是否遗漏值得争取的选择，风险审核看是否存在政策、录取、匹配或填报风险。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审核通过就进入最终确认，不通过就返回对应环节修改。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记住：没有通过审核的方案，不进入最终填报。这是一条硬标准。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审核通过以后，还需要家庭完成最终确认。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审核解决的是方案是否专业、合理、风险可控；家庭确认解决的是这是不是学生和家庭最终愿意接受的选择。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最终需要确认的内容包括：学生是否接受、家长是否接受、专业方向是否确认、院校范围是否确认、志愿顺序是否确认、风险是否充分理解。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同时要明确服务边界：不擅自修改、不替家庭决定、不隐瞒风险、不承诺百分百录取。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我们进入最后一个章节：结果闭环。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很多人以为志愿提交了，服务就结束了。但其实不是。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志愿提交只是流程上的一步，结果真正落地，才形成完整的服务闭环。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这一章我们会讲，志愿提交后规划师还需要做什么，以及一个学生服务结束后应该留下什么。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志愿提交以后，规划师还没有下场。还需要继续关注投档情况、录取状态、异常情况、征集节点、家庭问题和最终录取结果。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什么时候才算完成本阶段服务？不是方案做完，不是志愿填完，而是最终升学结果得到确认。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同时要完成最终方案归档、关键修改记录、审核意见留存、家庭确认记录和最终录取结果记录。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一个学生服务结束后，还应该留下一个可以被团队复盘的真实案例。录取之后，根据服务产品继续衔接格知向量计划。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好，我们来做一个总结。今天这堂课的主题是"把一个学生服务到底"。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完整的服务链是：从服务接档开始，经过学生信息采集与评估、测评解读与规划判断、初版方案、多方共创与方案迭代、独立审核、最终确认与填报指导，一直到录取跟踪与服务闭环。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最后记住五句话：先了解学生再开始规划；测评提供线索规划师形成判断；第一版方案不是最终答案；最终方案需要共创与独立审核；志愿提交不代表服务结束。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流程有标准、判断有依据、方案有审核、过程有留痕、结果有跟踪。这就是格知规划师的全链路交付方法论。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4.xml" Type="http://schemas.openxmlformats.org/officeDocument/2006/relationships/notesSlid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4953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GEZHI · NAVIGATOR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1460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把一个学生服务到底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25500" y="2476500"/>
            <a:ext cx="889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格知规划师全链路交付方法论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62497" flipH="false" flipV="false">
            <a:off x="825558" y="3232150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25500" y="3683000"/>
            <a:ext cx="952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从正式接档，到方案共创、独立审核与录取闭环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4191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格知导师计划第二课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25500" y="62357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GEZHI NAVIGATOR | 格知导师计划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26500" y="6235700"/>
            <a:ext cx="254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知无涯 · 行有格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10156" r="10156" t="0" b="0"/>
          <a:stretch>
            <a:fillRect/>
          </a:stretch>
        </p:blipFill>
        <p:spPr>
          <a:xfrm rot="0" flipH="false" flipV="false">
            <a:off x="844550" y="7493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376151" y="896492"/>
            <a:ext cx="5601918" cy="446513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4191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COURSE MAP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一个学生进入格知之后，会经历什么？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390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778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19685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4765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交付起点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2857500"/>
            <a:ext cx="279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从前端签约，到规划师正式入场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19685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4765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了解学生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2857500"/>
            <a:ext cx="279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从基础信息，到真正理解学生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64500" y="1778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18500" y="19685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24765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形成判断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18500" y="2857500"/>
            <a:ext cx="279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从测评结果，到规划方向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" y="3683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79500" y="38735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79500" y="43815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共创方案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79500" y="4762500"/>
            <a:ext cx="279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从第一版，到逐渐成熟的方案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445000" y="3683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99000" y="38735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99000" y="43815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质量把关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99000" y="4762500"/>
            <a:ext cx="279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从候选方案，到正式填报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064500" y="3683000"/>
            <a:ext cx="3302000" cy="1651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18500" y="38735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318500" y="43815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结果闭环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18500" y="4762500"/>
            <a:ext cx="279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从志愿提交，到录取确认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25500" y="5778500"/>
            <a:ext cx="1016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从认识学生，到完成录取，一条完整的规划师交付链。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398000" y="1270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"/>
          <a:srcRect l="10156" r="10156" t="0" b="46874"/>
          <a:stretch>
            <a:fillRect/>
          </a:stretch>
        </p:blipFill>
        <p:spPr>
          <a:xfrm rot="0" flipH="false" flipV="false">
            <a:off x="861428" y="63500"/>
            <a:ext cx="599072" cy="318257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66700" y="736600"/>
            <a:ext cx="4114800" cy="320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92200" y="3835400"/>
            <a:ext cx="762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交付起点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" y="4572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从前端签约，到规划师正式入场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92200" y="5080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前端成交只是开始。规划师入场，意味着专业交付正式启动。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92200" y="57658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01 / HANDOVER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429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01 · HANDOVER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前端结束的位置，就是规划师交付开始的位置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3271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5875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前端已经完成：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1968500"/>
            <a:ext cx="2032000" cy="508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19685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签约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8194" flipH="false" flipV="false">
            <a:off x="2921091" y="2216150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A6F7D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3429000" y="1968500"/>
            <a:ext cx="2032000" cy="508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29000" y="19685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服务确认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8194" flipH="false" flipV="false">
            <a:off x="5524591" y="2216150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A6F7D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032500" y="1968500"/>
            <a:ext cx="2032000" cy="508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32500" y="19685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VIP 群建立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" y="2794000"/>
            <a:ext cx="1054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从这里开始，规划师正式进入学生服务。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" y="3302000"/>
            <a:ext cx="1054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规划师第一件事，不是马上推荐专业、筛选院校或制作方案。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" y="3810000"/>
            <a:ext cx="508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26A2E"/>
                </a:solidFill>
                <a:latin typeface="Noto Sans SC"/>
                <a:ea typeface="Noto Sans SC"/>
                <a:cs typeface="Noto Sans SC"/>
                <a:sym typeface="Noto Sans SC"/>
              </a:rPr>
              <a:t>而是：服务接档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" y="46355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接档首先要解决三个问题：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" y="5016500"/>
            <a:ext cx="3365500" cy="889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79500" y="51816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79500" y="5486400"/>
            <a:ext cx="285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我正在服务谁？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406900" y="5016500"/>
            <a:ext cx="3365500" cy="889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60900" y="51816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60900" y="5486400"/>
            <a:ext cx="285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这个家庭目前是什么情况？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988300" y="5016500"/>
            <a:ext cx="3365500" cy="889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242300" y="51816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242300" y="5486400"/>
            <a:ext cx="285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接下来应该先推进什么？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25500" y="61595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接档，是信息与责任的正式交接。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38200" y="55999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1" id="31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937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01 · HANDOVER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一次完整接档，需要确认四类信息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3271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65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1841500"/>
            <a:ext cx="63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286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学生情况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2692400"/>
            <a:ext cx="4699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年级、选科、成绩阶段、基本情况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159500" y="165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13500" y="1841500"/>
            <a:ext cx="63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13500" y="22860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家庭情况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13500" y="2692400"/>
            <a:ext cx="4699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主要联系人、学生参与度、家庭诉求、明显分歧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5500" y="3746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79500" y="3937000"/>
            <a:ext cx="63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79500" y="43815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服务情况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79500" y="4787900"/>
            <a:ext cx="4699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产品类型、服务范围、当前阶段、关键节点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59500" y="3746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13500" y="3937000"/>
            <a:ext cx="63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13500" y="43815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前置信息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13500" y="4787900"/>
            <a:ext cx="4699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销售已经了解到什么、家庭表达过什么、是否存在特殊问题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5500" y="5842000"/>
            <a:ext cx="10541000" cy="508000"/>
          </a:xfrm>
          <a:prstGeom prst="roundRect">
            <a:avLst>
              <a:gd name="adj" fmla="val 0"/>
            </a:avLst>
          </a:prstGeom>
          <a:solidFill>
            <a:srgbClr val="F26A2E">
              <a:alpha val="8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79500" y="5842000"/>
            <a:ext cx="1003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接档完成的标准：知道服务谁、解决什么、下一步做什么。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66700" y="736600"/>
            <a:ext cx="4114800" cy="320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92200" y="3835400"/>
            <a:ext cx="762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了解学生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" y="4572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在规划之前，先真正认识这个学生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92200" y="5080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我们最终做的是学生的方案。所以任何专业判断，都必须建立在对学生足够了解的基础上。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92200" y="57658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02 · SEE THE PERSON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937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02 · SEE THE PERSON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了解学生，不只是收集一份资料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3271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587500"/>
            <a:ext cx="1054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规划师需要逐渐了解的不只是分数和专业意向，而是一个更完整的学生：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2032000"/>
            <a:ext cx="1714500" cy="4572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0320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成绩基础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67000" y="2032000"/>
            <a:ext cx="1714500" cy="4572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667000" y="20320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学科特点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08500" y="2032000"/>
            <a:ext cx="1714500" cy="4572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08500" y="20320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兴趣倾向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2032000"/>
            <a:ext cx="1714500" cy="4572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0320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性格特征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" y="2603500"/>
            <a:ext cx="1714500" cy="4572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" y="26035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专业认知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667000" y="2603500"/>
            <a:ext cx="1714500" cy="4572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667000" y="26035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地域偏好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08500" y="2603500"/>
            <a:ext cx="1714500" cy="4572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08500" y="26035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家庭诉求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2603500"/>
            <a:ext cx="1714500" cy="4572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2603500"/>
            <a:ext cx="1714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现实条件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5500" y="3492500"/>
            <a:ext cx="5080000" cy="1270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79500" y="36830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79500" y="4000500"/>
            <a:ext cx="457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这一阶段真正要解决的，不是"信息表有没有填完？"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86500" y="3492500"/>
            <a:ext cx="5080000" cy="1270000"/>
          </a:xfrm>
          <a:prstGeom prst="roundRect">
            <a:avLst>
              <a:gd name="adj" fmla="val 0"/>
            </a:avLst>
          </a:prstGeom>
          <a:solidFill>
            <a:srgbClr val="F26A2E">
              <a:alpha val="10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540500" y="36830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INSTEAD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540500" y="4000500"/>
            <a:ext cx="457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我们是否已经足够了解这个学生，能够为后续规划提供判断依据？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5500" y="5207000"/>
            <a:ext cx="1054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只有先看见"人"，后面的专业、院校和志愿才有判断依据。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07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4064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02 · ASSESSMENT INTERPRETATION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测评解读：从报告走向真实的学生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3271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5240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测评帮助规划师从多个维度更系统地了解学生：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1841500"/>
            <a:ext cx="1879600" cy="4064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1841500"/>
            <a:ext cx="18796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兴趣倾向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832100" y="1841500"/>
            <a:ext cx="1879600" cy="4064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832100" y="1841500"/>
            <a:ext cx="18796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性格特征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838700" y="1841500"/>
            <a:ext cx="1879600" cy="4064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38700" y="1841500"/>
            <a:ext cx="18796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能力特点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845300" y="1841500"/>
            <a:ext cx="1879600" cy="4064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845300" y="1841500"/>
            <a:ext cx="18796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职业倾向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51900" y="1841500"/>
            <a:ext cx="1879600" cy="4064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51900" y="1841500"/>
            <a:ext cx="18796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专业方向线索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" y="2603500"/>
            <a:ext cx="2540000" cy="698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" y="2603500"/>
            <a:ext cx="2540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测评报告</a:t>
            </a:r>
            <a:b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（不是规划结论）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76381" flipH="false" flipV="false">
            <a:off x="3492571" y="2940050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4191000" y="2603500"/>
            <a:ext cx="3302000" cy="698500"/>
          </a:xfrm>
          <a:prstGeom prst="roundRect">
            <a:avLst>
              <a:gd name="adj" fmla="val 0"/>
            </a:avLst>
          </a:prstGeom>
          <a:solidFill>
            <a:srgbClr val="F26A2E">
              <a:alpha val="10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191000" y="2603500"/>
            <a:ext cx="330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解读过程</a:t>
            </a:r>
            <a:b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结果验证 + 信息补充 + 深度沟通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76381" flipH="false" flipV="false">
            <a:off x="7620071" y="2940050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318500" y="2603500"/>
            <a:ext cx="3048000" cy="698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18500" y="2603500"/>
            <a:ext cx="304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真正看见学生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5500" y="36195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进一步了解：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25500" y="3937000"/>
            <a:ext cx="1054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学习经历　·　兴趣来源　·　学科强弱　·　专业认知　·　城市偏好　·　未来想法　·　家庭期待　·　现实顾虑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25500" y="5016500"/>
            <a:ext cx="10541000" cy="635000"/>
          </a:xfrm>
          <a:prstGeom prst="roundRect">
            <a:avLst>
              <a:gd name="adj" fmla="val 0"/>
            </a:avLst>
          </a:prstGeom>
          <a:solidFill>
            <a:srgbClr val="F26A2E">
              <a:alpha val="8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25500" y="5016500"/>
            <a:ext cx="1054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测评帮助我们发现线索，解读帮助我们真正看见学生。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08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683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02 · CASE STUDY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案例：同一句"我想学计算机"，背后可能完全不同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263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460500"/>
            <a:ext cx="10541000" cy="508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1460500"/>
            <a:ext cx="1054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四个学生都说："我想学计算机。" — 但深入了解后，原因完全不同：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2225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2413000"/>
            <a:ext cx="38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28575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真正喜欢技术，并有相关体验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56000" y="22225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0" y="2413000"/>
            <a:ext cx="38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0" y="28575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主要看重就业和收入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86500" y="22225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40500" y="2413000"/>
            <a:ext cx="38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28575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主要来自父母建议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017000" y="2222500"/>
            <a:ext cx="2349500" cy="1651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271000" y="2413000"/>
            <a:ext cx="38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271000" y="2857500"/>
            <a:ext cx="1841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对计算机并不了解，只是不知道还能选什么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5500" y="41275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规划师不能只记录"专业意向：计算机"，而要进一步判断：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" y="4508500"/>
            <a:ext cx="1054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为什么想学？　·　了解多少？　·　是否真实匹配？　·　还有没有其他可能？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5500" y="5207000"/>
            <a:ext cx="10541000" cy="635000"/>
          </a:xfrm>
          <a:prstGeom prst="roundRect">
            <a:avLst>
              <a:gd name="adj" fmla="val 0"/>
            </a:avLst>
          </a:prstGeom>
          <a:solidFill>
            <a:srgbClr val="F26A2E">
              <a:alpha val="8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5500" y="5207000"/>
            <a:ext cx="1054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记录学生说了什么，只是信息；理解学生为什么这样想，才开始进入规划。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09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66700" y="736600"/>
            <a:ext cx="4114800" cy="320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92200" y="3835400"/>
            <a:ext cx="762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形成判断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" y="4572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从"知道很多信息"，到"知道应该怎么规划"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92200" y="5080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信息本身不会自动变成方案。规划师真正的价值，从形成判断开始。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92200" y="57658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03 · JUDGMENT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937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03 · JUDGMENT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测评不是答案，解读才开始产生价值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3271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651000"/>
            <a:ext cx="5080000" cy="1778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18415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测评可以帮助我们理解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2225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兴趣倾向　·　性格特点</a:t>
            </a:r>
            <a:br>
              <a:rPr lang="en-US" b="false" i="false" strike="noStrike" u="none" sz="1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职业倾向　·　行为特点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6500" y="1651000"/>
            <a:ext cx="5080000" cy="1778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540500" y="18415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但它不能直接决定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540500" y="22225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读什么专业　·　去哪所学校</a:t>
            </a:r>
            <a:b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去哪座城市　·　未来走什么路径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25500" y="3746500"/>
            <a:ext cx="1054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真正的规划，需要综合：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5500" y="4127500"/>
            <a:ext cx="10541000" cy="762000"/>
          </a:xfrm>
          <a:prstGeom prst="roundRect">
            <a:avLst>
              <a:gd name="adj" fmla="val 0"/>
            </a:avLst>
          </a:prstGeom>
          <a:solidFill>
            <a:srgbClr val="F26A2E">
              <a:alpha val="8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5500" y="4127500"/>
            <a:ext cx="1054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测评　×　成绩　×　学科能力　×　学生意愿　×　家庭条件　×　升学机会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" y="5207000"/>
            <a:ext cx="1054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测评提供线索，规划师形成判断。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937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03 · THREE QUESTIONS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规划判断，要回答三个核心问题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3271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778000"/>
            <a:ext cx="3365500" cy="3048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203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667000"/>
            <a:ext cx="285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这个学生是谁？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3175000"/>
            <a:ext cx="2857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核心特点、优势、限制、真实诉求是什么？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1778000"/>
            <a:ext cx="3365500" cy="3048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60900" y="203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60900" y="2667000"/>
            <a:ext cx="285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这次规划要解决什么？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60900" y="3175000"/>
            <a:ext cx="2857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是专业、院校、地域、家庭分歧，还是风险问题？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88300" y="1778000"/>
            <a:ext cx="3365500" cy="3048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42300" y="203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42300" y="2667000"/>
            <a:ext cx="285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下一步往哪里走？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42300" y="3175000"/>
            <a:ext cx="2857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初步专业方向、院校方向、地域方向与发展路径是什么？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" y="5207000"/>
            <a:ext cx="10541000" cy="635000"/>
          </a:xfrm>
          <a:prstGeom prst="roundRect">
            <a:avLst>
              <a:gd name="adj" fmla="val 0"/>
            </a:avLst>
          </a:prstGeom>
          <a:solidFill>
            <a:srgbClr val="F26A2E">
              <a:alpha val="8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" y="5207000"/>
            <a:ext cx="1054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只有完成这三个判断，才进入初版方案。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937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03 · CASE STUDY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案例：家长问的是"578分能上什么大学"，规划师看到的应该更多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263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524000"/>
            <a:ext cx="10541000" cy="635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1524000"/>
            <a:ext cx="127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表面问题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349500" y="1524000"/>
            <a:ext cx="876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云南物化生 578 分，可以报哪些学校？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25500" y="24130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进一步了解后发现：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25500" y="2730500"/>
            <a:ext cx="2032000" cy="635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25500" y="27305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学生坚持计算机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984500" y="2730500"/>
            <a:ext cx="2032000" cy="635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984500" y="27305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学生希望省外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143500" y="2730500"/>
            <a:ext cx="2032000" cy="635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143500" y="27305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家长希望留云南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302500" y="2730500"/>
            <a:ext cx="2032000" cy="635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302500" y="27305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家庭不能接受高风险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461500" y="2730500"/>
            <a:ext cx="1905000" cy="635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461500" y="27305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学生对计算机认知有限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5500" y="3746500"/>
            <a:ext cx="10541000" cy="1016000"/>
          </a:xfrm>
          <a:prstGeom prst="roundRect">
            <a:avLst>
              <a:gd name="adj" fmla="val 0"/>
            </a:avLst>
          </a:prstGeom>
          <a:solidFill>
            <a:srgbClr val="F26A2E">
              <a:alpha val="10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79500" y="3937000"/>
            <a:ext cx="152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真正的问题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79500" y="4254500"/>
            <a:ext cx="1003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专业方向　×　地域选择　×　家庭分歧　×　风险控制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5500" y="5207000"/>
            <a:ext cx="1054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规划师不是只回答家长提出的问题，</a:t>
            </a:r>
            <a:b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而是发现真正需要解决的问题。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66700" y="736600"/>
            <a:ext cx="4114800" cy="320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92200" y="3835400"/>
            <a:ext cx="762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共创方案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" y="4572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从专业判断，到一个家庭真正愿意执行的方案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92200" y="5080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第一版方案只是开始。真正成熟的方案，是在讨论和验证中形成的。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92200" y="57658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04 · CO-CREATE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937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04 · V1 FIRST DRAFT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第一版方案，是专业判断第一次变成"可讨论的方案"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263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5240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V1 来自：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1879600"/>
            <a:ext cx="1054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学生信息　＋　测评解读　＋　规划判断　＋　成绩数据　＋　院校专业　＋　家庭诉求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5400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V1 主要承担三个作用：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25500" y="2921000"/>
            <a:ext cx="3365500" cy="1905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3175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79500" y="3683000"/>
            <a:ext cx="2857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把规划师的专业判断呈现出来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06900" y="2921000"/>
            <a:ext cx="3365500" cy="1905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60900" y="3175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60900" y="3683000"/>
            <a:ext cx="2857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让学生和家长开始真正比较与选择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988300" y="2921000"/>
            <a:ext cx="3365500" cy="1905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42300" y="3175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42300" y="3683000"/>
            <a:ext cx="2857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暴露尚未解决的问题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" y="5207000"/>
            <a:ext cx="10541000" cy="635000"/>
          </a:xfrm>
          <a:prstGeom prst="roundRect">
            <a:avLst>
              <a:gd name="adj" fmla="val 0"/>
            </a:avLst>
          </a:prstGeom>
          <a:solidFill>
            <a:srgbClr val="F26A2E">
              <a:alpha val="8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" y="5207000"/>
            <a:ext cx="1054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V1 不是最终答案，而是共创的起点。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937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04 · CO-CREATION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最终方案，不由任何一方单独拍板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3271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714500"/>
            <a:ext cx="4445000" cy="2540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19685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家庭组提供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476500"/>
            <a:ext cx="3937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学生真实想法</a:t>
            </a:r>
            <a:b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家庭现实条件</a:t>
            </a:r>
            <a:b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风险承受能力</a:t>
            </a:r>
            <a:b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长期发展偏好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21500" y="1714500"/>
            <a:ext cx="4445000" cy="2540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175500" y="19685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专业组提供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75500" y="2476500"/>
            <a:ext cx="3937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信息</a:t>
            </a:r>
            <a:b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专业判断</a:t>
            </a:r>
            <a:b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方案设计</a:t>
            </a:r>
            <a:b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风险控制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26000" y="4572000"/>
            <a:ext cx="2540000" cy="698500"/>
          </a:xfrm>
          <a:prstGeom prst="roundRect">
            <a:avLst>
              <a:gd name="adj" fmla="val 0"/>
            </a:avLst>
          </a:prstGeom>
          <a:solidFill>
            <a:srgbClr val="F26A2E">
              <a:alpha val="15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826000" y="4572000"/>
            <a:ext cx="2540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共创最终方案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10747115" flipH="false" flipV="false">
            <a:off x="4000451" y="490855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14" id="14"/>
          <p:cNvCxnSpPr/>
          <p:nvPr/>
        </p:nvCxnSpPr>
        <p:spPr>
          <a:xfrm rot="-52884" flipH="false" flipV="false">
            <a:off x="7366049" y="490855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825500" y="5651500"/>
            <a:ext cx="1054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规划师负责专业判断，家庭负责价值取舍。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937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04 · ITERATION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方案质量，是在多轮讨论中逐渐形成的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3271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778000"/>
            <a:ext cx="1778000" cy="698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1778000"/>
            <a:ext cx="177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V1 初版方案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8194" flipH="false" flipV="false">
            <a:off x="2667091" y="2114550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A6F7D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238500" y="1778000"/>
            <a:ext cx="1397000" cy="698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238500" y="1778000"/>
            <a:ext cx="139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家庭反馈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8194" flipH="false" flipV="false">
            <a:off x="4699091" y="2114550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A6F7D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5270500" y="1778000"/>
            <a:ext cx="1778000" cy="698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270500" y="1778000"/>
            <a:ext cx="177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V2 优化方案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8194" flipH="false" flipV="false">
            <a:off x="7112091" y="2114550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A6F7D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683500" y="1778000"/>
            <a:ext cx="1397000" cy="698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83500" y="1778000"/>
            <a:ext cx="139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继续沟通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8194" flipH="false" flipV="false">
            <a:off x="9144091" y="2114550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9715500" y="1778000"/>
            <a:ext cx="1651000" cy="698500"/>
          </a:xfrm>
          <a:prstGeom prst="roundRect">
            <a:avLst>
              <a:gd name="adj" fmla="val 0"/>
            </a:avLst>
          </a:prstGeom>
          <a:solidFill>
            <a:srgbClr val="F26A2E">
              <a:alpha val="15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715500" y="1778000"/>
            <a:ext cx="1651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V3 / 候选终稿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5500" y="2857500"/>
            <a:ext cx="1054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每一次调整，都应该回答：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" y="3238500"/>
            <a:ext cx="1054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为什么改？　·　谁提出的？　·　解决了什么问题？　·　是否产生新的风险？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5500" y="40640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79500" y="4318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版本多少不是标准。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86500" y="40640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F26A2E">
              <a:alpha val="10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540500" y="4318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核心问题是否真正解决，才是标准。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937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04 · NON-LINEAR SOP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标准化不是机械向前，重大变化必须允许回退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263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5240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如果出现以下情况，就不能机械继续推进：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1905000"/>
            <a:ext cx="1968500" cy="571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1905000"/>
            <a:ext cx="1968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学生核心意愿变化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21000" y="1905000"/>
            <a:ext cx="1968500" cy="571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21000" y="1905000"/>
            <a:ext cx="1968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家庭现实条件变化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16500" y="1905000"/>
            <a:ext cx="1968500" cy="571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016500" y="1905000"/>
            <a:ext cx="1968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成绩或位次明显变化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112000" y="1905000"/>
            <a:ext cx="1968500" cy="571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12000" y="1905000"/>
            <a:ext cx="1968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发现重要专业限制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207500" y="1905000"/>
            <a:ext cx="2159000" cy="5715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207500" y="1905000"/>
            <a:ext cx="2159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出现新的重大风险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032000" y="3048000"/>
            <a:ext cx="2540000" cy="762000"/>
          </a:xfrm>
          <a:prstGeom prst="roundRect">
            <a:avLst>
              <a:gd name="adj" fmla="val 0"/>
            </a:avLst>
          </a:prstGeom>
          <a:solidFill>
            <a:srgbClr val="F26A2E">
              <a:alpha val="15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032000" y="3048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回到对应阶段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85925" flipH="false" flipV="false">
            <a:off x="4699079" y="3422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5334000" y="3048000"/>
            <a:ext cx="2540000" cy="762000"/>
          </a:xfrm>
          <a:prstGeom prst="roundRect">
            <a:avLst>
              <a:gd name="adj" fmla="val 0"/>
            </a:avLst>
          </a:prstGeom>
          <a:solidFill>
            <a:srgbClr val="F26A2E">
              <a:alpha val="15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334000" y="3048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重新判断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85925" flipH="false" flipV="false">
            <a:off x="8001079" y="3422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636000" y="3048000"/>
            <a:ext cx="2540000" cy="762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636000" y="3048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再进入方案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5500" y="4445000"/>
            <a:ext cx="10541000" cy="889000"/>
          </a:xfrm>
          <a:prstGeom prst="roundRect">
            <a:avLst>
              <a:gd name="adj" fmla="val 0"/>
            </a:avLst>
          </a:prstGeom>
          <a:solidFill>
            <a:srgbClr val="F26A2E">
              <a:alpha val="8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25500" y="4445000"/>
            <a:ext cx="1054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真正的 SOP，不是只知道下一步是什么，</a:t>
            </a:r>
            <a:br>
              <a:rPr lang="en-US" b="true" i="false" strike="noStrike" u="none" sz="15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5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而是知道什么时候必须重新判断。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66700" y="736600"/>
            <a:ext cx="4114800" cy="320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92200" y="3835400"/>
            <a:ext cx="762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质量把关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" y="4572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从"我们觉得可以"，到"方案真正经得起检查"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92200" y="5080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自己做的方案，不自己给自己打满分。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92200" y="57658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05 · QUALITY GATE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937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05 · QUALITY GATE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独立审核，是方案进入填报前的质量门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3271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587500"/>
            <a:ext cx="1054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候选终稿必须进入独立审核。审核重点看三个问题：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2032000"/>
            <a:ext cx="3365500" cy="2032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286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2794000"/>
            <a:ext cx="285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逻辑审核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3238500"/>
            <a:ext cx="285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整体结构是否合理？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2032000"/>
            <a:ext cx="3365500" cy="2032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60900" y="2286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60900" y="2794000"/>
            <a:ext cx="285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机会审核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60900" y="3238500"/>
            <a:ext cx="285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是否遗漏值得争取的选择？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988300" y="2032000"/>
            <a:ext cx="3365500" cy="2032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42300" y="2286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42300" y="2794000"/>
            <a:ext cx="285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风险审核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42300" y="3238500"/>
            <a:ext cx="285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是否存在政策、录取、匹配或填报风险？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" y="4381500"/>
            <a:ext cx="1054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审核结果：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5500" y="4762500"/>
            <a:ext cx="5080000" cy="635000"/>
          </a:xfrm>
          <a:prstGeom prst="roundRect">
            <a:avLst>
              <a:gd name="adj" fmla="val 0"/>
            </a:avLst>
          </a:prstGeom>
          <a:solidFill>
            <a:srgbClr val="F26A2E">
              <a:alpha val="10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" y="47625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→ 进入最终确认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86500" y="4762500"/>
            <a:ext cx="5080000" cy="635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86500" y="47625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不通过 → 返回对应环节修改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5500" y="5715000"/>
            <a:ext cx="1054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没有通过审核的方案，不进入最终填报。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3937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05 · FINAL CONFIRMATION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审核通过以后，还需要家庭完成最终确认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263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524000"/>
            <a:ext cx="5080000" cy="1016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17145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审核解决的是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032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这个方案是否专业、合理、风险可控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6500" y="1524000"/>
            <a:ext cx="5080000" cy="1016000"/>
          </a:xfrm>
          <a:prstGeom prst="roundRect">
            <a:avLst>
              <a:gd name="adj" fmla="val 0"/>
            </a:avLst>
          </a:prstGeom>
          <a:solidFill>
            <a:srgbClr val="F26A2E">
              <a:alpha val="10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540500" y="17145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家庭确认解决的是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540500" y="2032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这是不是学生和家庭最终愿意接受的选择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25500" y="27940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最终需要确认：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5500" y="3111500"/>
            <a:ext cx="1054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学生是否接受　·　家长是否接受　·　专业方向是否确认　·　院校范围是否确认　·　志愿顺序是否确认　·　风险是否充分理解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5500" y="3873500"/>
            <a:ext cx="10541000" cy="1524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79500" y="4064000"/>
            <a:ext cx="1003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同时明确服务边界：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79500" y="4445000"/>
            <a:ext cx="1003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不擅自修改　·　不替家庭决定　·　不隐瞒风险　·　不承诺百分百录取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39860" y="736600"/>
            <a:ext cx="4114800" cy="320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92200" y="3835400"/>
            <a:ext cx="762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结果闭环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92200" y="4572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从志愿提交，到最终录取确认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92200" y="5080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志愿提交不是服务结束。结果真正落地，才形成闭环。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92200" y="57658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06 · CLOSING THE LOOP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419100"/>
            <a:ext cx="635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PART 06 · CLOSING THE LOOP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698500"/>
            <a:ext cx="1054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志愿提交以后，规划师还没有下场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37436" flipH="false" flipV="false">
            <a:off x="825627" y="13271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5875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规划师还需要继续关注：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1905000"/>
            <a:ext cx="1054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投档情况　·　录取状态　·　异常情况　·　征集节点　·　家庭问题　·　最终录取结果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5400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什么时候才算完成本阶段服务？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25500" y="2921000"/>
            <a:ext cx="10541000" cy="889000"/>
          </a:xfrm>
          <a:prstGeom prst="roundRect">
            <a:avLst>
              <a:gd name="adj" fmla="val 0"/>
            </a:avLst>
          </a:prstGeom>
          <a:solidFill>
            <a:srgbClr val="F26A2E">
              <a:alpha val="10000"/>
            </a:srgbClr>
          </a:solidFill>
          <a:ln w="254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25500" y="2921000"/>
            <a:ext cx="1054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最终升学结果得到确认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25500" y="40640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同时完成归档，并留下可复盘的真实案例：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25500" y="4381500"/>
            <a:ext cx="1054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最终方案归档　·　关键修改记录　·　审核意见留存　·　家庭确认记录　·　最终录取结果记录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5500" y="5080000"/>
            <a:ext cx="10541000" cy="635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12700" cmpd="sng" cap="flat">
            <a:solidFill>
              <a:srgbClr val="2E333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5500" y="5080000"/>
            <a:ext cx="1054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录取之后，根据服务产品继续衔接：GEZHI VECTOR｜格知向量计划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" y="65405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GEZHI NAVIGATOR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112500" y="6540500"/>
            <a:ext cx="254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A6F7D"/>
                </a:solidFill>
                <a:latin typeface="Roboto"/>
                <a:ea typeface="Roboto"/>
                <a:cs typeface="Roboto"/>
                <a:sym typeface="Roboto"/>
              </a:rPr>
              <a:t>23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398000" y="114300"/>
            <a:ext cx="2794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GE ZHI</a:t>
            </a:r>
            <a:r>
              <a:rPr lang="en-US" b="false" i="false" strike="noStrike" u="none" sz="1566">
                <a:solidFill>
                  <a:srgbClr val="FB6F13"/>
                </a:solidFill>
                <a:latin typeface="Arial Black"/>
                <a:ea typeface="Arial Black"/>
                <a:cs typeface="Arial Black"/>
                <a:sym typeface="Arial Black"/>
              </a:rPr>
              <a:t> 格知丨知无涯·行有格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00765" y="38100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2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" y="635000"/>
            <a:ext cx="508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26A2E"/>
                </a:solidFill>
                <a:latin typeface="Roboto"/>
                <a:ea typeface="Roboto"/>
                <a:cs typeface="Roboto"/>
                <a:sym typeface="Roboto"/>
              </a:rPr>
              <a:t>GEZHI · NAVIGATOR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25500" y="952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把一个学生服务到底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2497" flipH="false" flipV="false">
            <a:off x="825558" y="1771650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26A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25500" y="19685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完整服务链：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2286000"/>
            <a:ext cx="1054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服务接档　→　学生信息采集与评估　→　测评解读与规划判断　→　初版方案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67000"/>
            <a:ext cx="1054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多方共创与方案迭代　→　独立审核　→　最终确认与填报指导　→　录取跟踪与服务闭环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25500" y="3238500"/>
            <a:ext cx="1054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A6B4"/>
                </a:solidFill>
                <a:latin typeface="Noto Sans SC"/>
                <a:ea typeface="Noto Sans SC"/>
                <a:cs typeface="Noto Sans SC"/>
                <a:sym typeface="Noto Sans SC"/>
              </a:rPr>
              <a:t>最后记住五句话：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25500" y="3556000"/>
            <a:ext cx="1054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01　先了解学生，再开始规划。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02　测评提供线索，规划师形成判断。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03　第一版方案，不是最终答案。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04　最终方案，需要共创与独立审核。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05　志愿提交，不代表服务结束。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25500" y="5461000"/>
            <a:ext cx="10541000" cy="508000"/>
          </a:xfrm>
          <a:prstGeom prst="roundRect">
            <a:avLst>
              <a:gd name="adj" fmla="val 0"/>
            </a:avLst>
          </a:prstGeom>
          <a:solidFill>
            <a:srgbClr val="F26A2E">
              <a:alpha val="10000"/>
            </a:srgbClr>
          </a:solidFill>
          <a:ln w="12700" cmpd="sng" cap="flat">
            <a:solidFill>
              <a:srgbClr val="F26A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25500" y="5461000"/>
            <a:ext cx="1054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0EDE4"/>
                </a:solidFill>
                <a:latin typeface="Noto Sans SC"/>
                <a:ea typeface="Noto Sans SC"/>
                <a:cs typeface="Noto Sans SC"/>
                <a:sym typeface="Noto Sans SC"/>
              </a:rPr>
              <a:t>流程有标准　·　判断有依据　·　方案有审核　·　过程有留痕　·　结果有跟踪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5500" y="62357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GEZHI NAVIGATOR | 格知导师计划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26500" y="6235700"/>
            <a:ext cx="254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A6F7D"/>
                </a:solidFill>
                <a:latin typeface="Noto Sans SC"/>
                <a:ea typeface="Noto Sans SC"/>
                <a:cs typeface="Noto Sans SC"/>
                <a:sym typeface="Noto Sans SC"/>
              </a:rPr>
              <a:t>知无涯 · 行有格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rcRect l="10156" r="10156" t="0" b="0"/>
          <a:stretch>
            <a:fillRect/>
          </a:stretch>
        </p:blipFill>
        <p:spPr>
          <a:xfrm rot="0" flipH="false" flipV="false">
            <a:off x="7621397" y="1130300"/>
            <a:ext cx="3745103" cy="3745103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rcRect l="10156" r="10156" t="0" b="46875"/>
          <a:stretch>
            <a:fillRect/>
          </a:stretch>
        </p:blipFill>
        <p:spPr>
          <a:xfrm rot="0" flipH="false" flipV="false">
            <a:off x="825500" y="94099"/>
            <a:ext cx="659578" cy="350401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