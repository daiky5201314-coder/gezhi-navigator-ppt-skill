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3703320"/>
            <a:ext cx="1218895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7498079" y="960120"/>
            <a:ext cx="0" cy="5029200"/>
          </a:xfrm>
          <a:prstGeom prst="line">
            <a:avLst/>
          </a:prstGeom>
          <a:ln w="9525">
            <a:solidFill>
              <a:srgbClr val="1C202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96112" y="3200400"/>
            <a:ext cx="3200400" cy="0"/>
          </a:xfrm>
          <a:prstGeom prst="line">
            <a:avLst/>
          </a:prstGeom>
          <a:ln w="9525">
            <a:solidFill>
              <a:srgbClr val="F26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502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1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GEZHI</a:t>
            </a:r>
            <a:r>
              <a:rPr sz="11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·  </a:t>
            </a:r>
            <a:r>
              <a:rPr sz="11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NAVIGATOR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667512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5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把一个学生服务到底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6675120" cy="6400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格知规划师全链路交付方法论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03904"/>
            <a:ext cx="64008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5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从正式接档，到方案共创、独立审核与录取闭环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15384"/>
            <a:ext cx="5943600" cy="320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——格知导师计划第二课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>
                <a:solidFill>
                  <a:srgbClr val="C4A96A"/>
                </a:solidFill>
                <a:latin typeface="Roboto Medium"/>
                <a:ea typeface="Roboto Medium"/>
                <a:cs typeface="Roboto Medium"/>
              </a:rPr>
              <a:t>GEZHI NAVIGATOR</a:t>
            </a:r>
            <a:r>
              <a:rPr sz="10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  |  </a:t>
            </a:r>
            <a:r>
              <a:rPr sz="10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格知导师计划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152" y="6263640"/>
            <a:ext cx="329184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A6F7D"/>
                </a:solidFill>
                <a:latin typeface="Noto Sans CJK SC Light"/>
                <a:ea typeface="Noto Sans CJK SC Light"/>
                <a:cs typeface="Noto Sans CJK SC Light"/>
              </a:rPr>
              <a:t>知无涯 · 行有格</a:t>
            </a:r>
          </a:p>
        </p:txBody>
      </p:sp>
      <p:pic>
        <p:nvPicPr>
          <p:cNvPr id="12" name="Picture 1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1298448"/>
            <a:ext cx="3456432" cy="2761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GEZHI NAVIGATOR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FULL DELIVERY CHAIN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全链路交付方法论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COURSE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一个学生进入格知之后，会经历什么？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874519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240280"/>
            <a:ext cx="3264408" cy="14630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15768"/>
            <a:ext cx="2834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交付起点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639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从前端签约，到规划师正式入场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2240280"/>
            <a:ext cx="3264408" cy="14630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404872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715768"/>
            <a:ext cx="2834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了解学生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13639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从基础信息，到真正理解学生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3" y="2240280"/>
            <a:ext cx="3264408" cy="14630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3" y="2404872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3" y="2715768"/>
            <a:ext cx="2834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形成判断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313639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从测评结果，到规划方向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31920"/>
            <a:ext cx="3264408" cy="14630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096512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07408"/>
            <a:ext cx="2834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共创方案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2803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从第一版，到逐渐成熟的方案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931920"/>
            <a:ext cx="3264408" cy="14630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4096512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4407408"/>
            <a:ext cx="2834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质量把关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90872" y="482803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从候选方案，到正式填报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1583" y="3931920"/>
            <a:ext cx="3264408" cy="14630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4096512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4407408"/>
            <a:ext cx="2834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结果闭环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3" y="482803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0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从志愿提交，到录取确认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43600"/>
            <a:ext cx="1054303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从认识学生，到完成录取，一条完整的规划师交付链。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01</a:t>
            </a:r>
          </a:p>
        </p:txBody>
      </p:sp>
      <p:pic>
        <p:nvPicPr>
          <p:cNvPr id="33" name="Picture 3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0"/>
            <a:ext cx="411480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0" b="0">
                <a:solidFill>
                  <a:srgbClr val="1C2028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4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交付起点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从前端签约，到规划师正式入场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PART 01 /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交付起点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01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DELIVERY START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交付起点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前端结束的位置，就是规划师交付开始的位置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0574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前端已经完成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137160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签约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395728"/>
            <a:ext cx="32004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2377440"/>
            <a:ext cx="173736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服务确认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395728"/>
            <a:ext cx="32004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377440"/>
            <a:ext cx="210312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VIP群建立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154680"/>
            <a:ext cx="1054303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38328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从这里开始，规划师正式进入学生服务。</a:t>
            </a:r>
          </a:p>
          <a:p>
            <a:pPr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规划师第一件事，不是马上推荐专业、筛选院校或制作方案，而是——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3657600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4000" b="0">
                <a:solidFill>
                  <a:srgbClr val="F26A2E"/>
                </a:solidFill>
                <a:latin typeface="Noto Sans CJK SC Black"/>
                <a:ea typeface="Noto Sans CJK SC Black"/>
                <a:cs typeface="Noto Sans CJK SC Black"/>
              </a:rPr>
              <a:t>服务接档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337560"/>
            <a:ext cx="4965192" cy="22860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520440"/>
            <a:ext cx="4389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接档，首先要解决三个问题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931920"/>
            <a:ext cx="457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913632"/>
            <a:ext cx="40233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我正在服务谁？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462272"/>
            <a:ext cx="457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4443984"/>
            <a:ext cx="40233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这个家庭目前是什么情况？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992624"/>
            <a:ext cx="457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974336"/>
            <a:ext cx="40233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接下来应该先推进什么？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接档，是信息与责任的正式交接。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03</a:t>
            </a:r>
          </a:p>
        </p:txBody>
      </p:sp>
      <p:pic>
        <p:nvPicPr>
          <p:cNvPr id="26" name="Picture 2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01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DELIVERY START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交付起点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FOUR SETS OF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一次完整接档，需要确认四类信息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286000"/>
            <a:ext cx="2468880" cy="265176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16352"/>
            <a:ext cx="20116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7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学生情况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10128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年级、选科、成绩阶段、基本情况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2286000"/>
            <a:ext cx="2468880" cy="265176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487168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16352"/>
            <a:ext cx="20116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7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家庭情况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310128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主要联系人、学生参与度、家庭诉求、明显分歧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2468880" cy="265176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487168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16352"/>
            <a:ext cx="20116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7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服务情况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10128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产品类型、服务范围、当前阶段、关键节点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2286000"/>
            <a:ext cx="2468880" cy="265176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487168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816352"/>
            <a:ext cx="201168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7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前置信息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310128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销售已经了解到什么、家庭表达过什么、是否存在特殊问题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36576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接档完成的标准：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知道服务谁、解决什么、下一步做什么。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04</a:t>
            </a:r>
          </a:p>
        </p:txBody>
      </p:sp>
      <p:pic>
        <p:nvPicPr>
          <p:cNvPr id="26" name="Picture 25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0"/>
            <a:ext cx="411480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0" b="0">
                <a:solidFill>
                  <a:srgbClr val="1C2028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4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了解学生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在规划之前，先真正认识这个学生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PART 02 /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了解学生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02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KNOW THE STUDENT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了解学生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SEE THE PERSON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了解学生，不只是收集一份资料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14884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规划师需要逐渐了解的，是一个更完整的学生：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成绩基础</a:t>
            </a:r>
          </a:p>
        </p:txBody>
      </p:sp>
      <p:sp>
        <p:nvSpPr>
          <p:cNvPr id="8" name="Rectangle 7"/>
          <p:cNvSpPr/>
          <p:nvPr/>
        </p:nvSpPr>
        <p:spPr>
          <a:xfrm>
            <a:off x="3136391" y="2560320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学科特点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2560320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兴趣倾向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63256" y="2560320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性格特征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154679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专业认知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6391" y="3154679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地域偏好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9824" y="3154679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家庭诉求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63256" y="3154679"/>
            <a:ext cx="21488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现实条件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977639"/>
            <a:ext cx="1054303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160520"/>
            <a:ext cx="5486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这一阶段真正要解决的，不是：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80560"/>
            <a:ext cx="54864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6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“信息表有没有填完？”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83480"/>
            <a:ext cx="5486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而是——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543032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我们是否已经足够了解这个学生，能够为后续规划提供判断依据？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03504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只有先看见「人」，后面的专业、院校和志愿才有判断依据。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06</a:t>
            </a:r>
          </a:p>
        </p:txBody>
      </p:sp>
      <p:pic>
        <p:nvPicPr>
          <p:cNvPr id="23" name="Picture 2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02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KNOW THE STUDENT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了解学生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TEST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测评解读：从报告走向真实的学生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194560"/>
            <a:ext cx="5303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格知会安排学生完成专业测评，测评帮助规划师从多个维度，</a:t>
            </a:r>
          </a:p>
          <a:p>
            <a:pPr>
              <a:lnSpc>
                <a:spcPct val="130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更系统地了解学生：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16916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兴趣倾向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3063240"/>
            <a:ext cx="16916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性格特征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063240"/>
            <a:ext cx="16916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能力特点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57600"/>
            <a:ext cx="16916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职业倾向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657600"/>
            <a:ext cx="16916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专业方向线索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89120"/>
            <a:ext cx="53035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但测评报告本身不是规划结论。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5303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规划师需要结合报告与学生进行解读，</a:t>
            </a:r>
          </a:p>
          <a:p>
            <a:pPr>
              <a:lnSpc>
                <a:spcPct val="130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在解读过程中同步完成：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532120"/>
            <a:ext cx="14630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26A2E"/>
                </a:solidFill>
                <a:latin typeface="Noto Sans CJK SC Medium"/>
                <a:ea typeface="Noto Sans CJK SC Medium"/>
                <a:cs typeface="Noto Sans CJK SC Medium"/>
              </a:rPr>
              <a:t>结果验证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596128"/>
            <a:ext cx="27432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5532120"/>
            <a:ext cx="14630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26A2E"/>
                </a:solidFill>
                <a:latin typeface="Noto Sans CJK SC Medium"/>
                <a:ea typeface="Noto Sans CJK SC Medium"/>
                <a:cs typeface="Noto Sans CJK SC Medium"/>
              </a:rPr>
              <a:t>信息补充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596128"/>
            <a:ext cx="27432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5532120"/>
            <a:ext cx="146304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26A2E"/>
                </a:solidFill>
                <a:latin typeface="Noto Sans CJK SC Medium"/>
                <a:ea typeface="Noto Sans CJK SC Medium"/>
                <a:cs typeface="Noto Sans CJK SC Medium"/>
              </a:rPr>
              <a:t>深度沟通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194560"/>
            <a:ext cx="4873752" cy="379476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395728"/>
            <a:ext cx="4389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解读过程中，进一步了解：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88036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880360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学习经历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88036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880360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兴趣来源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593591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93591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学科强弱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3593591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593591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专业认知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30682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306824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城市偏好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30682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306824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未来想法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5020056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020056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家庭期待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5020056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5020056"/>
            <a:ext cx="18288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现实顾虑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7220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测评帮助我们发现线索，解读帮助我们真正看见学生。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07</a:t>
            </a:r>
          </a:p>
        </p:txBody>
      </p:sp>
      <p:pic>
        <p:nvPicPr>
          <p:cNvPr id="40" name="Picture 39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02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KNOW THE STUDENT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了解学生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SAME WORDS, DIFFERENT WHY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同一句「我想学计算机」，背后可能完全不同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057400"/>
            <a:ext cx="2743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四个学生都说：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965960"/>
            <a:ext cx="4572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“我想学计算机。”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60320"/>
            <a:ext cx="2468880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724912"/>
            <a:ext cx="548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108960"/>
            <a:ext cx="208483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真正喜欢技术，并有相关体验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560320"/>
            <a:ext cx="2468880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2724912"/>
            <a:ext cx="548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3108960"/>
            <a:ext cx="208483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主要看重就业和收入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560320"/>
            <a:ext cx="2468880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24912"/>
            <a:ext cx="548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208483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主要来自父母建议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560320"/>
            <a:ext cx="2468880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2724912"/>
            <a:ext cx="5486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3108960"/>
            <a:ext cx="2084831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1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对计算机并不了解，只是不知道还能选什么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251960"/>
            <a:ext cx="1054303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434840"/>
            <a:ext cx="2743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所以规划师不能只记录：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800600"/>
            <a:ext cx="2377440" cy="50292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专业意向：计算机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4434840"/>
            <a:ext cx="36576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而要进一步判断：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80060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800600"/>
            <a:ext cx="3291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为什么想学？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80060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9" y="4800600"/>
            <a:ext cx="3291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了解多少？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536752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367528"/>
            <a:ext cx="3291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是否真实匹配？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536752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19" y="5367528"/>
            <a:ext cx="3291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还有没有其他可能？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08076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记录学生说了什么，只是信息；理解学生为什么这样想，才开始进入规划。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08</a:t>
            </a:r>
          </a:p>
        </p:txBody>
      </p:sp>
      <p:pic>
        <p:nvPicPr>
          <p:cNvPr id="35" name="Picture 3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0"/>
            <a:ext cx="411480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0" b="0">
                <a:solidFill>
                  <a:srgbClr val="1C2028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4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形成判断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从「知道很多信息」，到「知道应该怎么规划」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PART 03 /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形成判断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03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FORM THE JUDGMENT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形成判断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TEST IS NOT 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测评不是答案，解读才开始产生价值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286000"/>
            <a:ext cx="5120640" cy="18288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测评可以帮助我们理解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2880360"/>
            <a:ext cx="45720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306324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3063240"/>
            <a:ext cx="1920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兴趣倾向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06324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3063240"/>
            <a:ext cx="1920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性格特点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53872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538728"/>
            <a:ext cx="1920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职业倾向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53872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3538728"/>
            <a:ext cx="1920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行为特点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2286000"/>
            <a:ext cx="5120640" cy="18288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468880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但它不能直接决定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19672" y="2880360"/>
            <a:ext cx="45720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19672" y="306324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306324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读什么专业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306324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06324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去哪所学校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53872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3538728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去哪座城市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88552" y="353872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3538728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未来走什么路径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72000"/>
            <a:ext cx="5486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真正的规划，需要综合：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83480"/>
            <a:ext cx="105430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测评</a:t>
            </a:r>
            <a:r>
              <a:rPr sz="2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  ×  </a:t>
            </a:r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成绩</a:t>
            </a:r>
            <a:r>
              <a:rPr sz="2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  ×  </a:t>
            </a:r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学科能力</a:t>
            </a:r>
            <a:r>
              <a:rPr sz="2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  ×  </a:t>
            </a:r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学生意愿</a:t>
            </a:r>
            <a:r>
              <a:rPr sz="2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  ×  </a:t>
            </a:r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家庭条件</a:t>
            </a:r>
            <a:r>
              <a:rPr sz="2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  ×  </a:t>
            </a:r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升学机会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94360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测评提供线索，规划师形成判断。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10</a:t>
            </a:r>
          </a:p>
        </p:txBody>
      </p:sp>
      <p:pic>
        <p:nvPicPr>
          <p:cNvPr id="33" name="Picture 3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03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FORM THE JUDGMENT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形成判断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THREE CORE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规划判断，要回答三个核心问题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377440"/>
            <a:ext cx="128016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3429000"/>
            <a:ext cx="73152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3611880"/>
            <a:ext cx="31089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这个学生是谁？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核心特点、优势、限制、真实诉求是什么？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77440"/>
            <a:ext cx="128016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43400" y="3429000"/>
            <a:ext cx="73152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43400" y="3611880"/>
            <a:ext cx="31089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这次规划真正要解决什么？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06908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是专业、院校、地域、家庭分歧，还是风险问题？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377440"/>
            <a:ext cx="1280160" cy="914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5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429000"/>
            <a:ext cx="73152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63840" y="3611880"/>
            <a:ext cx="31089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下一步大致往哪里走？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06908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初步专业方向、院校方向、地域方向与发展路径是什么？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只有完成这三个判断，才进入初版方案。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11</a:t>
            </a:r>
          </a:p>
        </p:txBody>
      </p:sp>
      <p:pic>
        <p:nvPicPr>
          <p:cNvPr id="21" name="Picture 2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03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FORM THE JUDGMENT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形成判断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READ BEHIND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家长问的是「578分能上什么大学」，规划师看到的应该更多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103120"/>
            <a:ext cx="5120640" cy="32918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86000"/>
            <a:ext cx="4572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家长的表面问题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5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“云南物化生578分，可以报哪些学校？”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97280" y="3200400"/>
            <a:ext cx="45720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3337560"/>
            <a:ext cx="4572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进一步了解后发现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57600"/>
            <a:ext cx="2743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657600"/>
            <a:ext cx="43891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学生坚持计算机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86784"/>
            <a:ext cx="2743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86784"/>
            <a:ext cx="43891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学生希望省外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315968"/>
            <a:ext cx="2743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15968"/>
            <a:ext cx="43891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家长希望留云南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45152"/>
            <a:ext cx="2743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45152"/>
            <a:ext cx="43891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家庭不能接受高风险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974336"/>
            <a:ext cx="2743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974336"/>
            <a:ext cx="438912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学生对计算机实际认知有限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194560"/>
            <a:ext cx="4572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于是，真正的问题变成：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606040"/>
            <a:ext cx="2377440" cy="530352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专业方向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606040"/>
            <a:ext cx="2377440" cy="530352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地域选择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3264408"/>
            <a:ext cx="2377440" cy="530352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家庭分歧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400" y="3264408"/>
            <a:ext cx="2377440" cy="530352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风险控制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5029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四个问题交织，才是这个家庭真正要解的题。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2960" y="5715000"/>
            <a:ext cx="1054303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22960" y="589788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规划师不是只回答家长提出的问题，而是发现真正需要解决的问题。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12</a:t>
            </a:r>
          </a:p>
        </p:txBody>
      </p:sp>
      <p:pic>
        <p:nvPicPr>
          <p:cNvPr id="31" name="Picture 3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0"/>
            <a:ext cx="411480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0" b="0">
                <a:solidFill>
                  <a:srgbClr val="1C2028"/>
                </a:solidFill>
                <a:latin typeface="Roboto Black"/>
                <a:ea typeface="Roboto Black"/>
                <a:cs typeface="Roboto Blac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4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共创方案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从专业判断，到一个家庭真正愿意执行的方案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PART 04 /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共创方案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04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CO-CREATE THE PLAN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共创方案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VERSION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第一版方案，是专业判断第一次变成「可讨论的方案」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103120"/>
            <a:ext cx="2743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V1 来自：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15544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学生信息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32888"/>
            <a:ext cx="2286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2468880"/>
            <a:ext cx="15544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测评解读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532888"/>
            <a:ext cx="2286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2468880"/>
            <a:ext cx="15544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规划判断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32888"/>
            <a:ext cx="2286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468880"/>
            <a:ext cx="15544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成绩数据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532888"/>
            <a:ext cx="2286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2468880"/>
            <a:ext cx="15544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院校专业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59" y="2532888"/>
            <a:ext cx="22860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8360" y="2468880"/>
            <a:ext cx="15544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家庭诉求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291840"/>
            <a:ext cx="4572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V1 主要承担三个作用：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657600"/>
            <a:ext cx="3264408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40480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16052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把规划师的专业判断呈现出来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657600"/>
            <a:ext cx="3264408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840480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0872" y="416052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让学生和家长开始真正比较与选择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01583" y="3657600"/>
            <a:ext cx="3264408" cy="1371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0183" y="3840480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0183" y="416052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暴露尚未解决的问题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62356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V1 不是最终答案，而是共创的起点。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14</a:t>
            </a:r>
          </a:p>
        </p:txBody>
      </p:sp>
      <p:pic>
        <p:nvPicPr>
          <p:cNvPr id="31" name="Picture 3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04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CO-CREATE THE PLAN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共创方案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CO-CREATION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最终方案，不由任何一方单独拍板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286000"/>
            <a:ext cx="5120640" cy="23774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家庭组提供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97280" y="2926080"/>
            <a:ext cx="45720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97280" y="310896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108960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学生真实想法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49300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493008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家庭现实条件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77056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877056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风险承受能力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6110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261104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长期发展偏好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352" y="2286000"/>
            <a:ext cx="5120640" cy="23774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2487168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专业组提供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19672" y="2926080"/>
            <a:ext cx="45720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19672" y="310896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3108960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信息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3493008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3493008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专业判断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877056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3877056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方案设计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261104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9712" y="4261104"/>
            <a:ext cx="42062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风险控制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983480"/>
            <a:ext cx="10543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家庭组</a:t>
            </a:r>
            <a:r>
              <a:rPr sz="20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  ×  </a:t>
            </a:r>
            <a:r>
              <a:rPr sz="2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专业组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468112"/>
            <a:ext cx="10543032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共创最终方案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17220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规划师负责专业判断，家庭负责价值取舍。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15</a:t>
            </a:r>
          </a:p>
        </p:txBody>
      </p:sp>
      <p:pic>
        <p:nvPicPr>
          <p:cNvPr id="33" name="Picture 3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04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CO-CREATE THE PLAN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共创方案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方案质量，是在多轮讨论中逐渐形成的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331720"/>
            <a:ext cx="1783080" cy="7772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V1  </a:t>
            </a:r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初版方案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33472" y="2487168"/>
            <a:ext cx="32004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971800" y="2331720"/>
            <a:ext cx="1783080" cy="777240"/>
          </a:xfrm>
          <a:prstGeom prst="rect">
            <a:avLst/>
          </a:prstGeom>
          <a:noFill/>
          <a:ln w="9525">
            <a:solidFill>
              <a:srgbClr val="6A6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家庭反馈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2487168"/>
            <a:ext cx="32004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331720"/>
            <a:ext cx="1783080" cy="7772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V2  </a:t>
            </a:r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优化方案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2487168"/>
            <a:ext cx="32004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79" y="2331720"/>
            <a:ext cx="1783080" cy="777240"/>
          </a:xfrm>
          <a:prstGeom prst="rect">
            <a:avLst/>
          </a:prstGeom>
          <a:noFill/>
          <a:ln w="9525">
            <a:solidFill>
              <a:srgbClr val="6A6F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继续沟通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1" y="2487168"/>
            <a:ext cx="320040" cy="4114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19" y="2331720"/>
            <a:ext cx="1783080" cy="7772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V3  </a:t>
            </a:r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候选终稿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520440"/>
            <a:ext cx="1054303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3703320"/>
            <a:ext cx="5486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每一次调整，都应该回答：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2468880" cy="50292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为什么改？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11296" y="4069080"/>
            <a:ext cx="2468880" cy="50292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谁提出的？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4069080"/>
            <a:ext cx="2468880" cy="50292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解决了什么问题？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87968" y="4069080"/>
            <a:ext cx="2468880" cy="50292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是否产生新的风险？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92040"/>
            <a:ext cx="5486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版本多少不是标准。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0352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2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核心问题是否真正解决，才是标准。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16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04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CO-CREATE THE PLAN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共创方案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NON-LINEAR 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标准化不是机械向前，重大变化必须允许回退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194560"/>
            <a:ext cx="5120640" cy="301752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95728"/>
            <a:ext cx="4572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如果出现：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788920"/>
            <a:ext cx="4297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学生核心意愿发生变化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461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246120"/>
            <a:ext cx="4297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家庭现实条件发生变化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7033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703320"/>
            <a:ext cx="4297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成绩或位次明显变化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605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160520"/>
            <a:ext cx="4297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发现重要专业限制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177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617720"/>
            <a:ext cx="42976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出现新的重大风险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286000"/>
            <a:ext cx="5029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就不能机械继续推进，应该：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788920"/>
            <a:ext cx="4114800" cy="5486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回到对应阶段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337560"/>
            <a:ext cx="41148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30168"/>
            <a:ext cx="4114800" cy="5486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重新判断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178807"/>
            <a:ext cx="41148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4471416"/>
            <a:ext cx="4114800" cy="54864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再进入方案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真正的 SOP，不是只知道下一步是什么，而是知道什么时候必须重新判断。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17</a:t>
            </a:r>
          </a:p>
        </p:txBody>
      </p:sp>
      <p:pic>
        <p:nvPicPr>
          <p:cNvPr id="27" name="Picture 2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0"/>
            <a:ext cx="411480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0" b="0">
                <a:solidFill>
                  <a:srgbClr val="1C2028"/>
                </a:solidFill>
                <a:latin typeface="Roboto Black"/>
                <a:ea typeface="Roboto Black"/>
                <a:cs typeface="Roboto Blac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4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质量把关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从「我们觉得可以」，到「方案真正经得起检查」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PART 05 /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质量把关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05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QUALITY GATE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质量把关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INDEPENDENT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独立审核，是方案进入填报前的质量门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10312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候选终稿必须进入独立审核。审核重点看三个问题：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3264408" cy="201168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9067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逻辑审核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整体结构是否合理？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62272" y="2560320"/>
            <a:ext cx="3264408" cy="201168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743200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09067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机会审核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6118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是否遗漏值得争取的选择？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01583" y="2560320"/>
            <a:ext cx="3264408" cy="201168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3" y="2743200"/>
            <a:ext cx="9144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F26A2E"/>
                </a:solidFill>
                <a:latin typeface="Roboto Black"/>
                <a:ea typeface="Roboto Black"/>
                <a:cs typeface="Roboto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3090672"/>
            <a:ext cx="28346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风险审核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3" y="361188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12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是否存在政策、录取、匹配或填报风险？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审核结果：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通过</a:t>
            </a:r>
            <a:r>
              <a:rPr sz="14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  →  </a:t>
            </a:r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进入最终确认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3949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0">
                <a:solidFill>
                  <a:srgbClr val="6A6F7D"/>
                </a:solidFill>
                <a:latin typeface="Noto Sans CJK SC Black"/>
                <a:ea typeface="Noto Sans CJK SC Black"/>
                <a:cs typeface="Noto Sans CJK SC Black"/>
              </a:rPr>
              <a:t>不通过</a:t>
            </a:r>
            <a:r>
              <a:rPr sz="14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  →  </a:t>
            </a:r>
            <a:r>
              <a:rPr sz="14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返回对应环节修改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4303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没有通过审核的方案，不进入最终填报。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19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05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QUALITY GATE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质量把关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FINAL CONFIRMATION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6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审核通过以后，还需要家庭完成最终确认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64207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2057400"/>
            <a:ext cx="51206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审核解决的是：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51206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这个方案是否专业、合理、风险可控。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57400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家庭确认解决的是：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359152"/>
            <a:ext cx="50292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5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这是学生和家庭最终愿意接受的选择。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971800"/>
            <a:ext cx="5120640" cy="22860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45720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最终需要确认：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52044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52044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学生是否接受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39" y="352044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3048" y="352044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家长是否接受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06908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06908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专业方向是否确认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39" y="406908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406908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院校范围是否确认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6177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461772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志愿顺序是否确认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39" y="4617720"/>
            <a:ext cx="2743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1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3048" y="4617720"/>
            <a:ext cx="21031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风险是否充分理解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017520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确认完成后：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401568"/>
            <a:ext cx="50566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指导填报</a:t>
            </a:r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  →  </a:t>
            </a:r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核对信息</a:t>
            </a:r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  →  </a:t>
            </a:r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确认提交</a:t>
            </a:r>
            <a:r>
              <a:rPr sz="120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  →  </a:t>
            </a:r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保存最终方案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160520"/>
            <a:ext cx="50292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同时明确服务边界：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526280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526280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不擅自修改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928616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928616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不替家庭决定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5330952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5330952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不隐瞒风险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733288"/>
            <a:ext cx="3200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733288"/>
            <a:ext cx="45720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不承诺百分百录取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20</a:t>
            </a:r>
          </a:p>
        </p:txBody>
      </p:sp>
      <p:pic>
        <p:nvPicPr>
          <p:cNvPr id="37" name="Picture 3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731520"/>
            <a:ext cx="4114800" cy="320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8000" b="0">
                <a:solidFill>
                  <a:srgbClr val="1C2028"/>
                </a:solidFill>
                <a:latin typeface="Roboto Black"/>
                <a:ea typeface="Roboto Black"/>
                <a:cs typeface="Roboto Blac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840480"/>
            <a:ext cx="9144000" cy="10972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44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结果闭环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6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从志愿提交，到最终录取确认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760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PART 06 /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结果闭环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200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1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PART 06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CLOSE THE LOOP</a:t>
            </a:r>
            <a:r>
              <a:rPr sz="900" b="0">
                <a:solidFill>
                  <a:srgbClr val="A0A6B4"/>
                </a:solidFill>
                <a:latin typeface="Roboto Medium"/>
                <a:ea typeface="Roboto Medium"/>
                <a:cs typeface="Roboto Medium"/>
              </a:rPr>
              <a:t>  </a:t>
            </a:r>
            <a:r>
              <a:rPr sz="9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结果闭环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100" b="1" spc="200">
                <a:solidFill>
                  <a:srgbClr val="F26A2E"/>
                </a:solidFill>
                <a:latin typeface="Roboto Medium"/>
                <a:ea typeface="Roboto Medium"/>
                <a:cs typeface="Roboto Medium"/>
              </a:rPr>
              <a:t>AFTER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3032" cy="5943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30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志愿提交以后，规划师还没有下场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691640"/>
            <a:ext cx="18288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822960" y="2194560"/>
            <a:ext cx="4846320" cy="2514600"/>
          </a:xfrm>
          <a:prstGeom prst="rect">
            <a:avLst/>
          </a:prstGeom>
          <a:solidFill>
            <a:srgbClr val="1E222A"/>
          </a:solidFill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95728"/>
            <a:ext cx="4389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规划师还需要继续关注：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834640"/>
            <a:ext cx="20116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投档情况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39" y="2834640"/>
            <a:ext cx="20116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录取状态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383280"/>
            <a:ext cx="20116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异常情况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39" y="3383280"/>
            <a:ext cx="20116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征集节点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931920"/>
            <a:ext cx="20116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家庭问题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39" y="3931920"/>
            <a:ext cx="2011680" cy="457200"/>
          </a:xfrm>
          <a:prstGeom prst="rect">
            <a:avLst/>
          </a:prstGeom>
          <a:noFill/>
          <a:ln w="9525">
            <a:solidFill>
              <a:srgbClr val="2E3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最终录取结果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40280"/>
            <a:ext cx="53035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什么时候才算完成本阶段服务？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606040"/>
            <a:ext cx="53035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不是方案做完。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971800"/>
            <a:ext cx="530352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不是志愿填完。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383280"/>
            <a:ext cx="53035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30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而是——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3703320"/>
            <a:ext cx="5330952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2400" b="0">
                <a:solidFill>
                  <a:srgbClr val="F26A2E"/>
                </a:solidFill>
                <a:latin typeface="Noto Sans CJK SC Black"/>
                <a:ea typeface="Noto Sans CJK SC Black"/>
                <a:cs typeface="Noto Sans CJK SC Black"/>
              </a:rPr>
              <a:t>最终升学结果得到确认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5074920"/>
            <a:ext cx="1054303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5230368"/>
            <a:ext cx="1054303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同时完成：</a:t>
            </a:r>
            <a:r>
              <a:rPr sz="125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最终方案归档 · 关键修改记录 · 审核意见留存 · 家庭确认记录 · 最终录取结果记录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r>
              <a:rPr sz="14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一个学生服务结束后，还应该留下：一个可以被团队复盘的真实案例。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4303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录取之后，根据服务产品继续衔接：</a:t>
            </a:r>
            <a:r>
              <a:rPr sz="1250" b="1">
                <a:solidFill>
                  <a:srgbClr val="C4A96A"/>
                </a:solidFill>
                <a:latin typeface="Roboto Medium"/>
                <a:ea typeface="Roboto Medium"/>
                <a:cs typeface="Roboto Medium"/>
              </a:rPr>
              <a:t>GEZHI VECTOR</a:t>
            </a:r>
            <a:r>
              <a:rPr sz="1250" b="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｜格知向量计划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75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GEZHI NAVIGATOR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0232" y="6537960"/>
            <a:ext cx="36576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8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22</a:t>
            </a:r>
          </a:p>
        </p:txBody>
      </p:sp>
      <p:pic>
        <p:nvPicPr>
          <p:cNvPr id="25" name="Picture 2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4280" y="45720"/>
            <a:ext cx="713232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365760"/>
            <a:ext cx="960120" cy="7589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89888"/>
            <a:ext cx="10543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 spc="300">
                <a:solidFill>
                  <a:srgbClr val="C4A96A"/>
                </a:solidFill>
                <a:latin typeface="Roboto Medium"/>
                <a:ea typeface="Roboto Medium"/>
                <a:cs typeface="Roboto Medium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43032" cy="7772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F0EDE4"/>
                </a:solidFill>
                <a:latin typeface="Noto Sans CJK SC Black"/>
                <a:ea typeface="Noto Sans CJK SC Black"/>
                <a:cs typeface="Noto Sans CJK SC Black"/>
              </a:rPr>
              <a:t>把一个学生服务到底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362956" y="2578608"/>
            <a:ext cx="1463040" cy="0"/>
          </a:xfrm>
          <a:prstGeom prst="line">
            <a:avLst/>
          </a:prstGeom>
          <a:ln w="12700">
            <a:solidFill>
              <a:srgbClr val="F26A2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286000" y="2862072"/>
            <a:ext cx="20574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845552" y="2862072"/>
            <a:ext cx="20574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2724912"/>
            <a:ext cx="350215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 spc="10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完整服务链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63040" y="3200400"/>
            <a:ext cx="926287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1961388" y="3150108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10128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服务接档</a:t>
            </a:r>
          </a:p>
        </p:txBody>
      </p:sp>
      <p:sp>
        <p:nvSpPr>
          <p:cNvPr id="12" name="Diamond 11"/>
          <p:cNvSpPr/>
          <p:nvPr/>
        </p:nvSpPr>
        <p:spPr>
          <a:xfrm>
            <a:off x="4683556" y="3150108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5128" y="3310128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学生信息采集与评估</a:t>
            </a:r>
          </a:p>
        </p:txBody>
      </p:sp>
      <p:sp>
        <p:nvSpPr>
          <p:cNvPr id="14" name="Diamond 13"/>
          <p:cNvSpPr/>
          <p:nvPr/>
        </p:nvSpPr>
        <p:spPr>
          <a:xfrm>
            <a:off x="7405725" y="3150108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7297" y="3310128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测评解读与规划判断</a:t>
            </a:r>
          </a:p>
        </p:txBody>
      </p:sp>
      <p:sp>
        <p:nvSpPr>
          <p:cNvPr id="16" name="Diamond 15"/>
          <p:cNvSpPr/>
          <p:nvPr/>
        </p:nvSpPr>
        <p:spPr>
          <a:xfrm>
            <a:off x="10127894" y="3150108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89466" y="3310128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初版方案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63040" y="3803904"/>
            <a:ext cx="9262872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iamond 18"/>
          <p:cNvSpPr/>
          <p:nvPr/>
        </p:nvSpPr>
        <p:spPr>
          <a:xfrm>
            <a:off x="1961388" y="3753612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913632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多方共创与方案迭代</a:t>
            </a:r>
          </a:p>
        </p:txBody>
      </p:sp>
      <p:sp>
        <p:nvSpPr>
          <p:cNvPr id="21" name="Diamond 20"/>
          <p:cNvSpPr/>
          <p:nvPr/>
        </p:nvSpPr>
        <p:spPr>
          <a:xfrm>
            <a:off x="4683556" y="3753612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5128" y="3913632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独立审核</a:t>
            </a:r>
          </a:p>
        </p:txBody>
      </p:sp>
      <p:sp>
        <p:nvSpPr>
          <p:cNvPr id="23" name="Diamond 22"/>
          <p:cNvSpPr/>
          <p:nvPr/>
        </p:nvSpPr>
        <p:spPr>
          <a:xfrm>
            <a:off x="7405725" y="3753612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7297" y="3913632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最终确认与填报指导</a:t>
            </a:r>
          </a:p>
        </p:txBody>
      </p:sp>
      <p:sp>
        <p:nvSpPr>
          <p:cNvPr id="25" name="Diamond 24"/>
          <p:cNvSpPr/>
          <p:nvPr/>
        </p:nvSpPr>
        <p:spPr>
          <a:xfrm>
            <a:off x="10127894" y="3753612"/>
            <a:ext cx="100584" cy="100584"/>
          </a:xfrm>
          <a:prstGeom prst="diamond">
            <a:avLst/>
          </a:prstGeom>
          <a:solidFill>
            <a:srgbClr val="F26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9466" y="3913632"/>
            <a:ext cx="237744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录取跟踪与服务闭环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286000" y="4361688"/>
            <a:ext cx="20574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845552" y="4361688"/>
            <a:ext cx="2057400" cy="0"/>
          </a:xfrm>
          <a:prstGeom prst="line">
            <a:avLst/>
          </a:prstGeom>
          <a:ln w="9525">
            <a:solidFill>
              <a:srgbClr val="2E33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343400" y="4224528"/>
            <a:ext cx="350215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 spc="100">
                <a:solidFill>
                  <a:srgbClr val="A0A6B4"/>
                </a:solidFill>
                <a:latin typeface="Noto Sans CJK SC Medium"/>
                <a:ea typeface="Noto Sans CJK SC Medium"/>
                <a:cs typeface="Noto Sans CJK SC Medium"/>
              </a:rPr>
              <a:t>最后记住五句话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572000"/>
            <a:ext cx="1054303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先了解学生，再开始规划。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46320"/>
            <a:ext cx="1054303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测评提供线索，规划师形成判断。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120640"/>
            <a:ext cx="1054303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第一版方案，不是最终答案。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394960"/>
            <a:ext cx="1054303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最终方案，需要共创与独立审核。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669280"/>
            <a:ext cx="10543032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0EDE4"/>
                </a:solidFill>
                <a:latin typeface="Noto Sans CJK SC Medium"/>
                <a:ea typeface="Noto Sans CJK SC Medium"/>
                <a:cs typeface="Noto Sans CJK SC Medium"/>
              </a:rPr>
              <a:t>志愿提交，不代表服务结束。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89904"/>
            <a:ext cx="105430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0" spc="200">
                <a:solidFill>
                  <a:srgbClr val="C4A96A"/>
                </a:solidFill>
                <a:latin typeface="Roboto Medium"/>
                <a:ea typeface="Roboto Medium"/>
                <a:cs typeface="Roboto Medium"/>
              </a:rPr>
              <a:t>流程有标准 · 判断有依据 · 方案有审核 · 过程有留痕 · 结果有跟踪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92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0">
                <a:solidFill>
                  <a:srgbClr val="C4A96A"/>
                </a:solidFill>
                <a:latin typeface="Roboto Medium"/>
                <a:ea typeface="Roboto Medium"/>
                <a:cs typeface="Roboto Medium"/>
              </a:rPr>
              <a:t>GEZHI NAVIGATOR</a:t>
            </a:r>
            <a:r>
              <a:rPr sz="1000" b="0">
                <a:solidFill>
                  <a:srgbClr val="6A6F7D"/>
                </a:solidFill>
                <a:latin typeface="Roboto Medium"/>
                <a:ea typeface="Roboto Medium"/>
                <a:cs typeface="Roboto Medium"/>
              </a:rPr>
              <a:t>  |  </a:t>
            </a:r>
            <a:r>
              <a:rPr sz="1000" b="0">
                <a:solidFill>
                  <a:srgbClr val="6A6F7D"/>
                </a:solidFill>
                <a:latin typeface="Noto Sans CJK SC Medium"/>
                <a:ea typeface="Noto Sans CJK SC Medium"/>
                <a:cs typeface="Noto Sans CJK SC Medium"/>
              </a:rPr>
              <a:t>格知导师计划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4152" y="6492240"/>
            <a:ext cx="329184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6A6F7D"/>
                </a:solidFill>
                <a:latin typeface="Noto Sans CJK SC Light"/>
                <a:ea typeface="Noto Sans CJK SC Light"/>
                <a:cs typeface="Noto Sans CJK SC Light"/>
              </a:rPr>
              <a:t>知无涯 · 行有格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