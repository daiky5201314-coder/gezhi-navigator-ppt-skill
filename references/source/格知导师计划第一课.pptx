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07130"/>
            <a:ext cx="12191695" cy="0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40728" y="963930"/>
            <a:ext cx="0" cy="5029200"/>
          </a:xfrm>
          <a:prstGeom prst="line">
            <a:avLst/>
          </a:prstGeom>
          <a:noFill/>
          <a:ln w="6350">
            <a:solidFill>
              <a:srgbClr val="1C20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5985" y="3200400"/>
            <a:ext cx="320040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</a:t>
            </a:r>
            <a:r>
              <a:rPr lang="en-US" sz="11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·  </a:t>
            </a:r>
            <a:r>
              <a:rPr lang="en-US" sz="1100" kern="0" spc="3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NAVIGATOR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高考志愿规划师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职业定位与能力地图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3799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从「懂志愿」到「能独立完成家庭规划服务」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4A96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|  </a:t>
            </a:r>
            <a:r>
              <a:rPr lang="en-US" sz="10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格知导师计划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6895" y="62636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F7D"/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知无涯 · 行有格</a:t>
            </a:r>
            <a:endParaRPr lang="en-US" sz="1000" dirty="0"/>
          </a:p>
        </p:txBody>
      </p:sp>
      <p:pic>
        <p:nvPicPr>
          <p:cNvPr id="17" name="图片 1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8870" y="1299845"/>
            <a:ext cx="3459480" cy="275780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22960" y="4213225"/>
            <a:ext cx="592772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r">
              <a:buNone/>
            </a:pPr>
            <a:r>
              <a:rPr lang="en-US" altLang="zh-CN" sz="1500" dirty="0">
                <a:solidFill>
                  <a:schemeClr val="bg1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  <a:sym typeface="+mn-ea"/>
              </a:rPr>
              <a:t>——</a:t>
            </a:r>
            <a:r>
              <a:rPr lang="zh-CN" altLang="en-US" sz="1500" dirty="0">
                <a:solidFill>
                  <a:schemeClr val="bg1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  <a:sym typeface="+mn-ea"/>
              </a:rPr>
              <a:t>格知导师计划第一课</a:t>
            </a:r>
            <a:endParaRPr lang="zh-CN" altLang="en-US" sz="1500" dirty="0">
              <a:solidFill>
                <a:schemeClr val="bg1"/>
              </a:solidFill>
              <a:latin typeface="Noto Sans CJK SC Medium" pitchFamily="34" charset="0"/>
              <a:ea typeface="Noto Sans CJK SC Medium" pitchFamily="34" charset="-122"/>
              <a:cs typeface="Noto Sans CJK SC Medium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4114800" cy="3200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0" dirty="0">
                <a:solidFill>
                  <a:srgbClr val="1C202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384048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打破旧认知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49377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如果连问题都问错了，答案也不会对。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01 /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pic>
        <p:nvPicPr>
          <p:cNvPr id="17" name="图片 1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01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REDEFINE THE PROFESSION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TODAY'S 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在学习「怎么填」之前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先弄清楚“规划师是干嘛”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28975"/>
            <a:ext cx="1097280" cy="914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29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</a:t>
            </a:r>
            <a:endParaRPr lang="en-US" sz="5290" dirty="0"/>
          </a:p>
        </p:txBody>
      </p:sp>
      <p:sp>
        <p:nvSpPr>
          <p:cNvPr id="8" name="Shape 6"/>
          <p:cNvSpPr/>
          <p:nvPr/>
        </p:nvSpPr>
        <p:spPr>
          <a:xfrm>
            <a:off x="822960" y="4189095"/>
            <a:ext cx="73152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71975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高考志愿规划师，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到底是一份什么样的工作？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3228975"/>
            <a:ext cx="1097280" cy="914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29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</a:t>
            </a:r>
            <a:endParaRPr lang="en-US" sz="5290" dirty="0"/>
          </a:p>
        </p:txBody>
      </p:sp>
      <p:sp>
        <p:nvSpPr>
          <p:cNvPr id="11" name="Shape 9"/>
          <p:cNvSpPr/>
          <p:nvPr/>
        </p:nvSpPr>
        <p:spPr>
          <a:xfrm>
            <a:off x="4343400" y="4189095"/>
            <a:ext cx="73152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4371975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一次完整的志愿规划服务，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到底要解决什么问题？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0" y="3228975"/>
            <a:ext cx="1097280" cy="914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29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</a:t>
            </a:r>
            <a:endParaRPr lang="en-US" sz="5290" dirty="0"/>
          </a:p>
        </p:txBody>
      </p:sp>
      <p:sp>
        <p:nvSpPr>
          <p:cNvPr id="14" name="Shape 12"/>
          <p:cNvSpPr/>
          <p:nvPr/>
        </p:nvSpPr>
        <p:spPr>
          <a:xfrm>
            <a:off x="7863840" y="4189095"/>
            <a:ext cx="73152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4371975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成为可以独立交付的导师，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需要具备哪些能力？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pic>
        <p:nvPicPr>
          <p:cNvPr id="19" name="图片 18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01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REDEFINE THE PROFESSION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REAL FAMILY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如果现在来了一个家庭，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你准备怎么回答？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6583680" cy="3108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家长咨询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603504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63240"/>
            <a:ext cx="60350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老师，孩子今年云南理科578分，排名大概1.2万。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想学计算机，但是我们又担心以后不好就业。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孩子自己想去省外，我们更希望留在云南。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能不能帮我们看看应该报哪些学校？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800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578分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4800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1.2万位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4800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计算机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4800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省外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留云南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面对这个家庭，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29260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你会先做什么？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772400" y="3840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</a:t>
            </a: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 直接推荐几个学校？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343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</a:t>
            </a: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 先查询往年录取数据？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</a:t>
            </a: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 先做一张「冲稳保」志愿表？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5349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</a:t>
            </a: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 先了解这个学生和家庭？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真正的志愿规划，从来不是「查一个答案」。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pic>
        <p:nvPicPr>
          <p:cNvPr id="24" name="图片 23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01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REDEFINE THE PROFESSION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STANDARD ANSWER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因为分数，只是决策的起点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3840480" cy="2286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75" dirty="0">
                <a:solidFill>
                  <a:srgbClr val="E0DCCC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578</a:t>
            </a:r>
            <a:endParaRPr lang="en-US" sz="13675" dirty="0"/>
          </a:p>
        </p:txBody>
      </p:sp>
      <p:sp>
        <p:nvSpPr>
          <p:cNvPr id="7" name="Text 5"/>
          <p:cNvSpPr/>
          <p:nvPr/>
        </p:nvSpPr>
        <p:spPr>
          <a:xfrm>
            <a:off x="4389120" y="265176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A6F7D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0" y="21031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学生情况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专业倾向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21031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城市选择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家庭诉求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院校偏好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6517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录取规则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2004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风险承受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657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↓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840480" y="4206240"/>
            <a:ext cx="4572000" cy="777240"/>
          </a:xfrm>
          <a:prstGeom prst="rect">
            <a:avLst/>
          </a:prstGeom>
          <a:solidFill>
            <a:srgbClr val="F26A2E"/>
          </a:solidFill>
        </p:spPr>
      </p:sp>
      <p:sp>
        <p:nvSpPr>
          <p:cNvPr id="17" name="Text 15"/>
          <p:cNvSpPr/>
          <p:nvPr/>
        </p:nvSpPr>
        <p:spPr>
          <a:xfrm>
            <a:off x="3840480" y="420624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最终志愿方案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同样的分数，不同的学生，答案可能完全不同。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pic>
        <p:nvPicPr>
          <p:cNvPr id="21" name="图片 20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01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REDEFINE THE PROFESSION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INFORMATION vs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家庭真正缺少的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不是信息，而是决策能力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60320"/>
            <a:ext cx="4846320" cy="256032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432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信息已经爆炸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政策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32918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329184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招生章程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2918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29184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历年数据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32918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29184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专业介绍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2918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大学排名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88620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388620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短视频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88620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88620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AI工具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388620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填报系统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347472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vs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492240" y="2560320"/>
            <a:ext cx="4846320" cy="256032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7432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但决策依然困难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6560" y="32004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哪些信息真正重要？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5204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什么学校适合自己的孩子？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8404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不同专业到底怎么比较？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1605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城市、学校、专业怎么取舍？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多少风险可以接受？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48006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最终，到底应该怎么决定？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信息越来越多，决策反而越来越难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pic>
        <p:nvPicPr>
          <p:cNvPr id="36" name="图片 35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01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REDEFINE THE PROFESSION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LADDER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我们规划的，从来不只是一张志愿表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280160" y="4390390"/>
            <a:ext cx="2286000" cy="109601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339215" y="4434840"/>
            <a:ext cx="548640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339215" y="47091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录取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339215" y="50063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能不能被录取？</a:t>
            </a:r>
            <a:endParaRPr lang="en-US" sz="11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3749040" y="4023360"/>
            <a:ext cx="2286000" cy="146304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931920" y="4160520"/>
            <a:ext cx="548640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931920" y="45262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院校与专业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931920" y="48920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去哪里？学什么？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6217920" y="3291840"/>
            <a:ext cx="2286000" cy="21945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6400800" y="3429000"/>
            <a:ext cx="548640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6400800" y="37947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发展路径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400800" y="41605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未来可能怎么走？</a:t>
            </a:r>
            <a:endParaRPr lang="en-US" sz="11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8686800" y="2560320"/>
            <a:ext cx="2286000" cy="2926080"/>
          </a:xfrm>
          <a:prstGeom prst="rect">
            <a:avLst/>
          </a:prstGeom>
          <a:solidFill>
            <a:srgbClr val="F26A2E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8869680" y="2697480"/>
            <a:ext cx="548640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04</a:t>
            </a:r>
            <a:endParaRPr lang="en-US" sz="1600" dirty="0">
              <a:solidFill>
                <a:schemeClr val="bg1"/>
              </a:solidFill>
              <a:latin typeface="Roboto Black" pitchFamily="34" charset="0"/>
              <a:ea typeface="Roboto Black" pitchFamily="34" charset="-122"/>
              <a:cs typeface="Roboto Black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8869680" y="3063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学生发展</a:t>
            </a:r>
            <a:endParaRPr lang="en-US" sz="1600" dirty="0">
              <a:solidFill>
                <a:schemeClr val="bg1"/>
              </a:solidFill>
              <a:latin typeface="Noto Sans CJK SC Black" pitchFamily="34" charset="0"/>
              <a:ea typeface="Noto Sans CJK SC Black" pitchFamily="34" charset="-122"/>
              <a:cs typeface="Noto Sans CJK SC Black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8869680" y="34290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是否真正适合这个学生？</a:t>
            </a:r>
            <a:endParaRPr lang="en-US" sz="1400" dirty="0">
              <a:solidFill>
                <a:schemeClr val="bg1"/>
              </a:solidFill>
              <a:latin typeface="Noto Sans CJK SC Medium" pitchFamily="34" charset="0"/>
              <a:ea typeface="Noto Sans CJK SC Medium" pitchFamily="34" charset="-122"/>
              <a:cs typeface="Noto Sans CJK SC Medium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80160" y="5760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← 越接近长期 →</a:t>
            </a:r>
            <a:endParaRPr lang="en-US" sz="1200" dirty="0">
              <a:solidFill>
                <a:schemeClr val="bg1"/>
              </a:solidFill>
              <a:latin typeface="Noto Sans CJK SC Medium" pitchFamily="34" charset="0"/>
              <a:ea typeface="Noto Sans CJK SC Medium" pitchFamily="34" charset="-122"/>
              <a:cs typeface="Noto Sans CJK SC Medium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志愿填报，</a:t>
            </a:r>
            <a:r>
              <a:rPr lang="zh-CN" altLang="en-US" sz="13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仅仅</a:t>
            </a:r>
            <a:r>
              <a:rPr lang="en-US" sz="13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是学生发展规划在高考节点的一次重要决策。</a:t>
            </a:r>
            <a:endParaRPr lang="en-US" sz="1300" b="1" dirty="0"/>
          </a:p>
        </p:txBody>
      </p:sp>
      <p:sp>
        <p:nvSpPr>
          <p:cNvPr id="24" name="Text 22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pic>
        <p:nvPicPr>
          <p:cNvPr id="26" name="图片 25" descr="logo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4114800" cy="3200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0" dirty="0">
                <a:solidFill>
                  <a:srgbClr val="1C202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384048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建立职业认知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49377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先搞清楚自己要成为什么样的人。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02 /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pic>
        <p:nvPicPr>
          <p:cNvPr id="17" name="图片 1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02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所以，什么是高考志愿规划师？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103120"/>
            <a:ext cx="8869680" cy="1828800"/>
          </a:xfrm>
          <a:prstGeom prst="rect">
            <a:avLst/>
          </a:prstGeom>
          <a:solidFill>
            <a:srgbClr val="1A1D24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2423160"/>
            <a:ext cx="79552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高考志愿规划师，是基于学生特征、家庭诉求、成绩数据、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院校专业信息与招生录取规则，帮助家庭建立决策逻辑，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并最终形成科学志愿方案的专业服务者。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61008" y="4389120"/>
            <a:ext cx="73152" cy="73152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9" name="Text 7"/>
          <p:cNvSpPr/>
          <p:nvPr/>
        </p:nvSpPr>
        <p:spPr>
          <a:xfrm>
            <a:off x="1340968" y="45720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学生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72688" y="4389120"/>
            <a:ext cx="73152" cy="73152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1" name="Text 9"/>
          <p:cNvSpPr/>
          <p:nvPr/>
        </p:nvSpPr>
        <p:spPr>
          <a:xfrm>
            <a:off x="3352648" y="45720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家庭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684368" y="4389120"/>
            <a:ext cx="73152" cy="73152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3" name="Text 11"/>
          <p:cNvSpPr/>
          <p:nvPr/>
        </p:nvSpPr>
        <p:spPr>
          <a:xfrm>
            <a:off x="5364328" y="45720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数据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96048" y="4389120"/>
            <a:ext cx="73152" cy="73152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5" name="Text 13"/>
          <p:cNvSpPr/>
          <p:nvPr/>
        </p:nvSpPr>
        <p:spPr>
          <a:xfrm>
            <a:off x="7376008" y="45720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规则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07728" y="4389120"/>
            <a:ext cx="73152" cy="73152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7" name="Text 15"/>
          <p:cNvSpPr/>
          <p:nvPr/>
        </p:nvSpPr>
        <p:spPr>
          <a:xfrm>
            <a:off x="9387688" y="45720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决策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后续所有课程，本质上都围绕这五个关键词展开。</a:t>
            </a:r>
            <a:endParaRPr lang="en-US" sz="1300" b="1" dirty="0"/>
          </a:p>
        </p:txBody>
      </p:sp>
      <p:sp>
        <p:nvSpPr>
          <p:cNvPr id="19" name="Text 17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pic>
        <p:nvPicPr>
          <p:cNvPr id="21" name="图片 20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02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BOUNDARIES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规划师不是「替别人做决定的人」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4846320" cy="292608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A0A6B4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NOT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规划师不是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429768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26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×  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替家长决定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×  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保证一定录取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×  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背大量学校资料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×  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背专业介绍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×  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帮客户填一张表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5262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×  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依靠经验拍脑袋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4846320" cy="2926080"/>
          </a:xfrm>
          <a:prstGeom prst="rect">
            <a:avLst/>
          </a:prstGeom>
          <a:solidFill>
            <a:srgbClr val="F26A2E"/>
          </a:solidFill>
        </p:spPr>
      </p:sp>
      <p:sp>
        <p:nvSpPr>
          <p:cNvPr id="17" name="Text 15"/>
          <p:cNvSpPr/>
          <p:nvPr/>
        </p:nvSpPr>
        <p:spPr>
          <a:xfrm>
            <a:off x="6766560" y="21945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10121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INSTEAD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4688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规划师应该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2788920"/>
            <a:ext cx="4297680" cy="0"/>
          </a:xfrm>
          <a:prstGeom prst="line">
            <a:avLst/>
          </a:prstGeom>
          <a:noFill/>
          <a:ln w="9525">
            <a:solidFill>
              <a:srgbClr val="1012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926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帮助家庭建立决策依据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2461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控制并解释录取风险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5661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理解院校选择逻辑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8862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判断专业与学生的匹配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42062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完成完整规划服务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45262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基于数据、规则和事实判断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专业，不是替客户决定。专业，是让客户知道为什么这样决定。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pic>
        <p:nvPicPr>
          <p:cNvPr id="29" name="图片 28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6126480" y="3520440"/>
            <a:ext cx="256032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02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THREE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你不是一个「填表的人」</a:t>
            </a:r>
            <a:endParaRPr lang="en-US" sz="3200" dirty="0"/>
          </a:p>
        </p:txBody>
      </p:sp>
      <p:sp>
        <p:nvSpPr>
          <p:cNvPr id="25" name="等腰三角形 24"/>
          <p:cNvSpPr/>
          <p:nvPr/>
        </p:nvSpPr>
        <p:spPr>
          <a:xfrm rot="10800000">
            <a:off x="4406900" y="2308860"/>
            <a:ext cx="2713990" cy="2262505"/>
          </a:xfrm>
          <a:prstGeom prst="triangle">
            <a:avLst>
              <a:gd name="adj" fmla="val 49375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8095" y="2514600"/>
            <a:ext cx="1371600" cy="137160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7" name="Text 5"/>
          <p:cNvSpPr/>
          <p:nvPr/>
        </p:nvSpPr>
        <p:spPr>
          <a:xfrm>
            <a:off x="5078095" y="274320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高考志愿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规划师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82495" y="3513455"/>
            <a:ext cx="2813685" cy="762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信息翻译者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517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把复杂信息变成家庭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能够理解的语言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政策 · 规则 · 院校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 · 数据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21031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决策辅助者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0" y="2514600"/>
            <a:ext cx="9144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6517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帮助家庭完成比较、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筛选、排序、取舍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3383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比较 · 筛选 · 排序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取舍 · 风险判断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40655" y="46863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成长规划者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40655" y="5097780"/>
            <a:ext cx="9144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0655" y="52349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把一次选择连接到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更长的发展路径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40655" y="59664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大学发展 → 升学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→ 就业 → 长期成长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09</a:t>
            </a:r>
            <a:endParaRPr lang="en-US" sz="800" dirty="0"/>
          </a:p>
        </p:txBody>
      </p:sp>
      <p:pic>
        <p:nvPicPr>
          <p:cNvPr id="26" name="图片 25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02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SERVICE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一次真正的志愿规划服务，是一条完整的决策链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3291840" cy="292608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860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DISCOVER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初访阶段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2926080"/>
            <a:ext cx="283464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1089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31089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客户初访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5661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5661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学生信息采集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0233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学生画像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33088" y="3429000"/>
            <a:ext cx="237744" cy="274320"/>
          </a:xfrm>
          <a:prstGeom prst="rightArrow">
            <a:avLst/>
          </a:prstGeom>
          <a:solidFill>
            <a:srgbClr val="F26A2E"/>
          </a:solidFill>
        </p:spPr>
      </p:sp>
      <p:sp>
        <p:nvSpPr>
          <p:cNvPr id="17" name="Shape 15"/>
          <p:cNvSpPr/>
          <p:nvPr/>
        </p:nvSpPr>
        <p:spPr>
          <a:xfrm>
            <a:off x="4389120" y="2103120"/>
            <a:ext cx="3291840" cy="292608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2860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DECIDE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2606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分析阶段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926080"/>
            <a:ext cx="283464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1089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1089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成绩定位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35661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5661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专业分析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40233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4023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院校筛选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44805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480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方案设计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99248" y="3429000"/>
            <a:ext cx="237744" cy="274320"/>
          </a:xfrm>
          <a:prstGeom prst="rightArrow">
            <a:avLst/>
          </a:prstGeom>
          <a:solidFill>
            <a:srgbClr val="F26A2E"/>
          </a:solidFill>
        </p:spPr>
      </p:sp>
      <p:sp>
        <p:nvSpPr>
          <p:cNvPr id="30" name="Shape 28"/>
          <p:cNvSpPr/>
          <p:nvPr/>
        </p:nvSpPr>
        <p:spPr>
          <a:xfrm>
            <a:off x="7955280" y="2103120"/>
            <a:ext cx="3291840" cy="292608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22860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DELIVER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83880" y="2606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交付阶段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83880" y="2926080"/>
            <a:ext cx="283464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1089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9640" y="31089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家庭沟通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83880" y="35661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35661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志愿确认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83880" y="4023360"/>
            <a:ext cx="3200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49640" y="4023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交付复盘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导师不是在某一个环节产生价值，而是在整个决策链条中产生价值。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</a:t>
            </a:r>
            <a:endParaRPr lang="en-US" sz="800" dirty="0"/>
          </a:p>
        </p:txBody>
      </p:sp>
      <p:pic>
        <p:nvPicPr>
          <p:cNvPr id="43" name="图片 42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02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最终交给家庭的，不应该只有一张 Excel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3337560"/>
            <a:ext cx="2743200" cy="109728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7" name="Text 5"/>
          <p:cNvSpPr/>
          <p:nvPr/>
        </p:nvSpPr>
        <p:spPr>
          <a:xfrm>
            <a:off x="4663440" y="33375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家庭最终决策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000250"/>
            <a:ext cx="256032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37410"/>
            <a:ext cx="457200" cy="2743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41173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学生画像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73177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这个学生是谁？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256032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48840"/>
            <a:ext cx="457200" cy="2743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需求与目标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家庭真正想解决什么？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2040255"/>
            <a:ext cx="256032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177415"/>
            <a:ext cx="457200" cy="2743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2451735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专业方向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0" y="2771775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重点考虑哪些方向？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572000"/>
            <a:ext cx="256032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709160"/>
            <a:ext cx="457200" cy="2743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9834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院校范围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53035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哪些院校值得候选？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572000"/>
            <a:ext cx="256032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709160"/>
            <a:ext cx="457200" cy="2743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49834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志愿方案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53035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如何排序与风险配置？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86800" y="4572000"/>
            <a:ext cx="256032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4709160"/>
            <a:ext cx="457200" cy="2743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869680" y="49834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决策说明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69680" y="53035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为什么这样选择？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方案只是结果。判断过程，才真正体现导师价值。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11</a:t>
            </a:r>
            <a:endParaRPr lang="en-US" sz="800" dirty="0"/>
          </a:p>
        </p:txBody>
      </p:sp>
      <p:pic>
        <p:nvPicPr>
          <p:cNvPr id="50" name="图片 49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02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重新理解高考志愿规划师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KNOWLEDGE → DELIVERY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为什么有人懂很多，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却依然做不好一次真实咨询？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389120"/>
            <a:ext cx="1371600" cy="73152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5262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L1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48006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我听过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3931920"/>
            <a:ext cx="1371600" cy="118872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4069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L2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43434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我知道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3474720"/>
            <a:ext cx="1371600" cy="164592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6118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3886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我能解释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3017520"/>
            <a:ext cx="1371600" cy="210312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1546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L4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34290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我能判断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2377440"/>
            <a:ext cx="3200400" cy="2743200"/>
          </a:xfrm>
          <a:prstGeom prst="rect">
            <a:avLst/>
          </a:prstGeom>
          <a:solidFill>
            <a:srgbClr val="F26A2E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5146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121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L5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27889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我能独立解决问题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61320" y="3291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A6F7D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知识型学员</a:t>
            </a:r>
            <a:r>
              <a:rPr lang="en-US" sz="1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r>
              <a:rPr lang="en-US" sz="24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交付型导师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12</a:t>
            </a:r>
            <a:endParaRPr lang="en-US" sz="800" dirty="0"/>
          </a:p>
        </p:txBody>
      </p:sp>
      <p:pic>
        <p:nvPicPr>
          <p:cNvPr id="26" name="图片 25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4114800" cy="3200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0" dirty="0">
                <a:solidFill>
                  <a:srgbClr val="1C202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384048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格知导师八项能力地图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49377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从知道，到能做到。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 /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pic>
        <p:nvPicPr>
          <p:cNvPr id="17" name="图片 1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CAPABILITY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47529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成为一名可以独立交付的导师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到底需要什么能力？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18933" y="2880360"/>
            <a:ext cx="1005840" cy="10058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7" name="Text 5"/>
          <p:cNvSpPr/>
          <p:nvPr/>
        </p:nvSpPr>
        <p:spPr>
          <a:xfrm>
            <a:off x="7918933" y="28803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高考志愿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规划师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70093" y="731520"/>
            <a:ext cx="5303520" cy="5303520"/>
          </a:xfrm>
          <a:prstGeom prst="ellipse">
            <a:avLst/>
          </a:prstGeom>
          <a:ln w="9525">
            <a:solidFill>
              <a:srgbClr val="2E333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421853" y="1828800"/>
            <a:ext cx="0" cy="1051560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701" y="120700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1" name="Text 9"/>
          <p:cNvSpPr/>
          <p:nvPr/>
        </p:nvSpPr>
        <p:spPr>
          <a:xfrm>
            <a:off x="7873213" y="68580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81773" y="91440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POLICY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90333" y="14173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政策规则力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777471" y="2284097"/>
            <a:ext cx="743565" cy="743565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35831" y="182299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6" name="Text 14"/>
          <p:cNvSpPr/>
          <p:nvPr/>
        </p:nvSpPr>
        <p:spPr>
          <a:xfrm>
            <a:off x="9360343" y="130179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68903" y="153039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77463" y="203331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数据分析力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24773" y="3383280"/>
            <a:ext cx="1051560" cy="0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51821" y="331012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1" name="Text 19"/>
          <p:cNvSpPr/>
          <p:nvPr/>
        </p:nvSpPr>
        <p:spPr>
          <a:xfrm>
            <a:off x="9976333" y="278892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84893" y="30175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SCHOOL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793453" y="3520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院校判断力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77471" y="3738898"/>
            <a:ext cx="743565" cy="743565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35831" y="479725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6" name="Text 24"/>
          <p:cNvSpPr/>
          <p:nvPr/>
        </p:nvSpPr>
        <p:spPr>
          <a:xfrm>
            <a:off x="9360343" y="427605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68903" y="450465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MAJOR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77463" y="500757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专业理解力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421853" y="3886200"/>
            <a:ext cx="0" cy="1051560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701" y="541324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1" name="Text 29"/>
          <p:cNvSpPr/>
          <p:nvPr/>
        </p:nvSpPr>
        <p:spPr>
          <a:xfrm>
            <a:off x="7873213" y="562356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81773" y="58978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STUDENT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90333" y="5074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学生洞察力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 rot="5400000">
            <a:off x="7322669" y="3738898"/>
            <a:ext cx="743565" cy="743565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61570" y="479725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6" name="Text 34"/>
          <p:cNvSpPr/>
          <p:nvPr/>
        </p:nvSpPr>
        <p:spPr>
          <a:xfrm>
            <a:off x="6386082" y="427605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94642" y="450465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SOLUTION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03202" y="500757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方案设计力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67373" y="3383280"/>
            <a:ext cx="1051560" cy="0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5581" y="331012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1" name="Text 39"/>
          <p:cNvSpPr/>
          <p:nvPr/>
        </p:nvSpPr>
        <p:spPr>
          <a:xfrm>
            <a:off x="5770093" y="278892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78653" y="30175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CONSULTING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87213" y="3520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沟通咨询力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22669" y="2284097"/>
            <a:ext cx="743565" cy="743565"/>
          </a:xfrm>
          <a:prstGeom prst="line">
            <a:avLst/>
          </a:prstGeom>
          <a:noFill/>
          <a:ln w="6350">
            <a:solidFill>
              <a:srgbClr val="2E33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61570" y="182299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6" name="Text 44"/>
          <p:cNvSpPr/>
          <p:nvPr/>
        </p:nvSpPr>
        <p:spPr>
          <a:xfrm>
            <a:off x="6386082" y="1301790"/>
            <a:ext cx="10972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94642" y="153039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DELIVERY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03202" y="203331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交付复盘力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接下来的导师计划，就是逐步把这八项能力装进你的工具箱。</a:t>
            </a:r>
            <a:endParaRPr lang="en-US" sz="1300" b="1" dirty="0"/>
          </a:p>
        </p:txBody>
      </p:sp>
      <p:sp>
        <p:nvSpPr>
          <p:cNvPr id="50" name="Text 48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13</a:t>
            </a:r>
            <a:endParaRPr lang="en-US" sz="800" dirty="0"/>
          </a:p>
        </p:txBody>
      </p:sp>
      <p:pic>
        <p:nvPicPr>
          <p:cNvPr id="52" name="图片 51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 · POLICY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政策规则力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先知道边界，才能做专业判断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3774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导师需要看懂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2697480"/>
            <a:ext cx="59436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2990088"/>
            <a:ext cx="2743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招生政策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40280" y="2990088"/>
            <a:ext cx="2743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批次设置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0" y="2990088"/>
            <a:ext cx="2743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投档规则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74920" y="2990088"/>
            <a:ext cx="2743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专业录取规则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3447288"/>
            <a:ext cx="2743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33375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招生章程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40280" y="3447288"/>
            <a:ext cx="2743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33375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特殊类型招生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0" y="3447288"/>
            <a:ext cx="2743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33375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退档风险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393192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关键不是把所有政策背下来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34340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遇到一个具体问题时，知道依据在哪里，并能够正确解释。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315200" y="2377440"/>
            <a:ext cx="4114800" cy="347472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26517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一个真实问题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808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「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7589520" y="356616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服从调剂，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到底调剂什么？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7589520" y="4754880"/>
            <a:ext cx="356616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49377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如果连规则边界都解释不清，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后面的方案就没有专业基础。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14</a:t>
            </a:r>
            <a:endParaRPr lang="en-US" sz="800" dirty="0"/>
          </a:p>
        </p:txBody>
      </p:sp>
      <p:pic>
        <p:nvPicPr>
          <p:cNvPr id="47" name="图片 4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 ·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数据分析力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把一个「分数」，变成一个「机会区间」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21488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7157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← 低概率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35440" y="27157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高概率 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283464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0" y="30632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高考分数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852928" y="3017520"/>
            <a:ext cx="283464" cy="274320"/>
          </a:xfrm>
          <a:prstGeom prst="rightArrow">
            <a:avLst/>
          </a:prstGeom>
          <a:solidFill>
            <a:srgbClr val="F26A2E"/>
          </a:solidFill>
        </p:spPr>
      </p:sp>
      <p:sp>
        <p:nvSpPr>
          <p:cNvPr id="34" name="Shape 32"/>
          <p:cNvSpPr/>
          <p:nvPr/>
        </p:nvSpPr>
        <p:spPr>
          <a:xfrm>
            <a:off x="3154680" y="2743200"/>
            <a:ext cx="182880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283464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RANK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91840" y="30632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省排名 / 位次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01768" y="3017520"/>
            <a:ext cx="283464" cy="274320"/>
          </a:xfrm>
          <a:prstGeom prst="rightArrow">
            <a:avLst/>
          </a:prstGeom>
          <a:solidFill>
            <a:srgbClr val="F26A2E"/>
          </a:solidFill>
        </p:spPr>
      </p:sp>
      <p:sp>
        <p:nvSpPr>
          <p:cNvPr id="38" name="Shape 36"/>
          <p:cNvSpPr/>
          <p:nvPr/>
        </p:nvSpPr>
        <p:spPr>
          <a:xfrm>
            <a:off x="5303520" y="2743200"/>
            <a:ext cx="182880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83464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HISTORY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40680" y="30632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历史录取数据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150608" y="3017520"/>
            <a:ext cx="283464" cy="274320"/>
          </a:xfrm>
          <a:prstGeom prst="rightArrow">
            <a:avLst/>
          </a:prstGeom>
          <a:solidFill>
            <a:srgbClr val="F26A2E"/>
          </a:solidFill>
        </p:spPr>
      </p:sp>
      <p:sp>
        <p:nvSpPr>
          <p:cNvPr id="42" name="Shape 40"/>
          <p:cNvSpPr/>
          <p:nvPr/>
        </p:nvSpPr>
        <p:spPr>
          <a:xfrm>
            <a:off x="7452360" y="2743200"/>
            <a:ext cx="1828800" cy="822960"/>
          </a:xfrm>
          <a:prstGeom prst="rect">
            <a:avLst/>
          </a:prstGeom>
          <a:solidFill>
            <a:srgbClr val="F26A2E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83464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RANGE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30632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院校机会区间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299448" y="3017520"/>
            <a:ext cx="283464" cy="274320"/>
          </a:xfrm>
          <a:prstGeom prst="rightArrow">
            <a:avLst/>
          </a:prstGeom>
          <a:solidFill>
            <a:srgbClr val="F26A2E"/>
          </a:solidFill>
        </p:spPr>
      </p:sp>
      <p:sp>
        <p:nvSpPr>
          <p:cNvPr id="46" name="Shape 44"/>
          <p:cNvSpPr/>
          <p:nvPr/>
        </p:nvSpPr>
        <p:spPr>
          <a:xfrm>
            <a:off x="9601200" y="2743200"/>
            <a:ext cx="1828800" cy="822960"/>
          </a:xfrm>
          <a:prstGeom prst="rect">
            <a:avLst/>
          </a:prstGeom>
          <a:solidFill>
            <a:srgbClr val="F26A2E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38360" y="283464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RISK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738360" y="30632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风险判断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4297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A6F7D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数据不是预测未来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数据的价值，是降低决策的不确定性。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15</a:t>
            </a:r>
            <a:endParaRPr lang="en-US" sz="800" dirty="0"/>
          </a:p>
        </p:txBody>
      </p:sp>
      <p:pic>
        <p:nvPicPr>
          <p:cNvPr id="54" name="图片 53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 · SCHOOL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院校判断力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大学之间的差异，远不只是排名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21488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68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判断一所院校，需要同时看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2788920"/>
            <a:ext cx="50292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01752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017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院校层次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301752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0" y="3017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地域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301752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0" y="3017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学校特色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352044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5204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优势学科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352044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0" y="35204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培养资源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14800" y="352044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89120" y="35204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发展机会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2468880"/>
            <a:ext cx="502920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26060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一个错误的问题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28803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「这个学校好不好？」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675120" y="3108960"/>
            <a:ext cx="4114800" cy="0"/>
          </a:xfrm>
          <a:prstGeom prst="line">
            <a:avLst/>
          </a:prstGeom>
          <a:noFill/>
          <a:ln w="12700">
            <a:solidFill>
              <a:srgbClr val="6A6F7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3703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↓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solidFill>
            <a:srgbClr val="F26A2E"/>
          </a:solidFill>
        </p:spPr>
      </p:sp>
      <p:sp>
        <p:nvSpPr>
          <p:cNvPr id="43" name="Text 41"/>
          <p:cNvSpPr/>
          <p:nvPr/>
        </p:nvSpPr>
        <p:spPr>
          <a:xfrm>
            <a:off x="6675120" y="4251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一个专业的问题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452628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「这个学校，对这个学生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是不是一个好的选择？」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16</a:t>
            </a:r>
            <a:endParaRPr lang="en-US" sz="800" dirty="0"/>
          </a:p>
        </p:txBody>
      </p:sp>
      <p:pic>
        <p:nvPicPr>
          <p:cNvPr id="47" name="图片 4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 · MAJOR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专业理解力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不是背专业介绍，而是看懂一条发展路径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21488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108960"/>
            <a:ext cx="10149840" cy="0"/>
          </a:xfrm>
          <a:prstGeom prst="line">
            <a:avLst/>
          </a:prstGeom>
          <a:noFill/>
          <a:ln w="12700">
            <a:solidFill>
              <a:srgbClr val="2E33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310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4" name="Text 22"/>
          <p:cNvSpPr/>
          <p:nvPr/>
        </p:nvSpPr>
        <p:spPr>
          <a:xfrm>
            <a:off x="8686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CURRICULUM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686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学什么？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57400" y="299923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026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8" name="Text 26"/>
          <p:cNvSpPr/>
          <p:nvPr/>
        </p:nvSpPr>
        <p:spPr>
          <a:xfrm>
            <a:off x="22402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SKILLS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402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需要什么能力？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29000" y="299923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742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2" name="Text 30"/>
          <p:cNvSpPr/>
          <p:nvPr/>
        </p:nvSpPr>
        <p:spPr>
          <a:xfrm>
            <a:off x="36118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118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适合什么人？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299923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458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6" name="Text 34"/>
          <p:cNvSpPr/>
          <p:nvPr/>
        </p:nvSpPr>
        <p:spPr>
          <a:xfrm>
            <a:off x="49834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CAREER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834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毕业去哪里？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299923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174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0" name="Text 38"/>
          <p:cNvSpPr/>
          <p:nvPr/>
        </p:nvSpPr>
        <p:spPr>
          <a:xfrm>
            <a:off x="63550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POSTGRAD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3550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能否考研？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43800" y="299923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890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4" name="Text 42"/>
          <p:cNvSpPr/>
          <p:nvPr/>
        </p:nvSpPr>
        <p:spPr>
          <a:xfrm>
            <a:off x="77266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CIVIL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7266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考公考编？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915400" y="299923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6606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8" name="Text 46"/>
          <p:cNvSpPr/>
          <p:nvPr/>
        </p:nvSpPr>
        <p:spPr>
          <a:xfrm>
            <a:off x="90982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INDUSTRY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0982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行业前景？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287000" y="299923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032236" y="305409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52" name="Text 50"/>
          <p:cNvSpPr/>
          <p:nvPr/>
        </p:nvSpPr>
        <p:spPr>
          <a:xfrm>
            <a:off x="10469880" y="2743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SCHOOL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046988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哪些院校更好？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22960" y="4114800"/>
            <a:ext cx="10515600" cy="118872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80160" y="4297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导师真正需要具备的，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280160" y="46634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是专业解释能力和专业比较能力。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17</a:t>
            </a:r>
            <a:endParaRPr lang="en-US" sz="800" dirty="0"/>
          </a:p>
        </p:txBody>
      </p:sp>
      <p:pic>
        <p:nvPicPr>
          <p:cNvPr id="59" name="图片 58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 · STUDENT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学生洞察力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所有方案，最终都要回到「这个人」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21488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68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我们需要理解的，不只是分数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2788920"/>
            <a:ext cx="50292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044952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5" name="Text 23"/>
          <p:cNvSpPr/>
          <p:nvPr/>
        </p:nvSpPr>
        <p:spPr>
          <a:xfrm>
            <a:off x="1051560" y="2971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成绩能力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3429000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7" name="Text 25"/>
          <p:cNvSpPr/>
          <p:nvPr/>
        </p:nvSpPr>
        <p:spPr>
          <a:xfrm>
            <a:off x="1051560" y="33558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兴趣倾向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3813048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9" name="Text 27"/>
          <p:cNvSpPr/>
          <p:nvPr/>
        </p:nvSpPr>
        <p:spPr>
          <a:xfrm>
            <a:off x="1051560" y="373989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学科优势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197096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1" name="Text 29"/>
          <p:cNvSpPr/>
          <p:nvPr/>
        </p:nvSpPr>
        <p:spPr>
          <a:xfrm>
            <a:off x="1051560" y="41239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性格特点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4581144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3" name="Text 31"/>
          <p:cNvSpPr/>
          <p:nvPr/>
        </p:nvSpPr>
        <p:spPr>
          <a:xfrm>
            <a:off x="1051560" y="45079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城市偏好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" y="4965192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5" name="Text 33"/>
          <p:cNvSpPr/>
          <p:nvPr/>
        </p:nvSpPr>
        <p:spPr>
          <a:xfrm>
            <a:off x="1051560" y="4892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发展目标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5349240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7" name="Text 35"/>
          <p:cNvSpPr/>
          <p:nvPr/>
        </p:nvSpPr>
        <p:spPr>
          <a:xfrm>
            <a:off x="1051560" y="5276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家庭资源与期待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不是：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27889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「578分能报什么？」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858000" y="3035808"/>
            <a:ext cx="4114800" cy="0"/>
          </a:xfrm>
          <a:prstGeom prst="line">
            <a:avLst/>
          </a:prstGeom>
          <a:noFill/>
          <a:ln w="12700">
            <a:solidFill>
              <a:srgbClr val="A0A6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33832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58000" y="3794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而是：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0" y="41148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「这个578分的学生，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什么更适合他？」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没有学生画像，就没有真正意义上的个性化志愿方案。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18</a:t>
            </a:r>
            <a:endParaRPr lang="en-US" sz="800" dirty="0"/>
          </a:p>
        </p:txBody>
      </p:sp>
      <p:pic>
        <p:nvPicPr>
          <p:cNvPr id="47" name="图片 4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 ·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方案设计力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把所有信息，变成可以执行的选择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21488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19420" y="2148840"/>
            <a:ext cx="914400" cy="32004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9420" y="214884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05345" y="3881120"/>
            <a:ext cx="914400" cy="32004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881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86200" y="3881120"/>
            <a:ext cx="914400" cy="32004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3881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院校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2687955"/>
            <a:ext cx="914400" cy="32004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687955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数据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38165" y="4462780"/>
            <a:ext cx="914400" cy="32004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1650" y="44627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政策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09060" y="2687955"/>
            <a:ext cx="914400" cy="32004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09060" y="2687955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家庭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52898" y="3138170"/>
            <a:ext cx="1371600" cy="73152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1" name="Text 39"/>
          <p:cNvSpPr/>
          <p:nvPr/>
        </p:nvSpPr>
        <p:spPr>
          <a:xfrm>
            <a:off x="5352898" y="313817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志愿方案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661008" y="5303520"/>
            <a:ext cx="2011680" cy="457200"/>
          </a:xfrm>
          <a:prstGeom prst="rect">
            <a:avLst/>
          </a:prstGeom>
          <a:solidFill>
            <a:srgbClr val="1E222A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61008" y="5303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可录取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947008" y="5303520"/>
            <a:ext cx="2011680" cy="457200"/>
          </a:xfrm>
          <a:prstGeom prst="rect">
            <a:avLst/>
          </a:prstGeom>
          <a:solidFill>
            <a:srgbClr val="1E222A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47008" y="5303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可接受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33008" y="5303520"/>
            <a:ext cx="2011680" cy="457200"/>
          </a:xfrm>
          <a:prstGeom prst="rect">
            <a:avLst/>
          </a:prstGeom>
          <a:solidFill>
            <a:srgbClr val="1E222A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3008" y="5303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有发展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19008" y="5303520"/>
            <a:ext cx="2011680" cy="457200"/>
          </a:xfrm>
          <a:prstGeom prst="rect">
            <a:avLst/>
          </a:prstGeom>
          <a:solidFill>
            <a:srgbClr val="1E222A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19008" y="5303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风险可控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真正困难的从来不是找到几个学校，而是在多种约束中找到更合理的组合。</a:t>
            </a:r>
            <a:endParaRPr lang="en-US" sz="1200" b="1" dirty="0"/>
          </a:p>
        </p:txBody>
      </p:sp>
      <p:sp>
        <p:nvSpPr>
          <p:cNvPr id="51" name="Text 49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</a:t>
            </a:r>
            <a:endParaRPr lang="en-US" sz="800" dirty="0"/>
          </a:p>
        </p:txBody>
      </p:sp>
      <p:pic>
        <p:nvPicPr>
          <p:cNvPr id="53" name="图片 52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 · CONSULTING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很多方案的问题，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" y="1428115"/>
            <a:ext cx="10058400" cy="629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不是方案错，而是「讲不明白」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22960" y="1743075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23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场景一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2697480"/>
            <a:ext cx="2926080" cy="45720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6974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学生：</a:t>
            </a: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我一定要去省外。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2697480"/>
            <a:ext cx="2926080" cy="45720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6974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家长：</a:t>
            </a: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我觉得还是留云南稳定。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2697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?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22960" y="3429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场景二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6576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家长：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老师，你就直接告诉我哪个最好。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场景三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43434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家长：</a:t>
            </a:r>
            <a:r>
              <a:rPr lang="en-US" sz="13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为什么别人都说这个专业不好？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24231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导师需要的能力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2697480"/>
            <a:ext cx="32004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288036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提问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84080" y="288036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倾听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澄清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8408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解释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36118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比较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784080" y="36118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引导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0" y="39776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处理分歧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咨询不是说服客户。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咨询，是帮助客户完成决策。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20</a:t>
            </a:r>
            <a:endParaRPr lang="en-US" sz="800" dirty="0"/>
          </a:p>
        </p:txBody>
      </p:sp>
      <p:sp>
        <p:nvSpPr>
          <p:cNvPr id="45" name="文本框 44"/>
          <p:cNvSpPr txBox="1"/>
          <p:nvPr/>
        </p:nvSpPr>
        <p:spPr>
          <a:xfrm>
            <a:off x="822960" y="960120"/>
            <a:ext cx="4064000" cy="724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algn="l">
              <a:buClrTx/>
              <a:buSzTx/>
              <a:buFontTx/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  <a:sym typeface="+mn-ea"/>
              </a:rPr>
              <a:t>沟通咨询力</a:t>
            </a:r>
            <a:endParaRPr lang="en-US" sz="3600" dirty="0">
              <a:solidFill>
                <a:srgbClr val="F0EDE4"/>
              </a:solidFill>
              <a:latin typeface="Noto Sans CJK SC Black" pitchFamily="34" charset="0"/>
              <a:ea typeface="Noto Sans CJK SC Black" pitchFamily="34" charset="-122"/>
              <a:cs typeface="Noto Sans CJK SC Black" pitchFamily="34" charset="-120"/>
            </a:endParaRPr>
          </a:p>
        </p:txBody>
      </p:sp>
      <p:pic>
        <p:nvPicPr>
          <p:cNvPr id="46" name="图片 45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0140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2942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6833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9635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35263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3279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02191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30207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69119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97135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36047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4063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02975" y="32004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30991" y="320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08 · DELIVERY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3420" y="2523490"/>
            <a:ext cx="4059555" cy="2124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专业服务的最后一步，</a:t>
            </a: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  <a:sym typeface="+mn-ea"/>
              </a:rPr>
              <a:t>是把「偶尔做好」变成「稳定做好」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80415" y="1065530"/>
            <a:ext cx="29540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  <a:sym typeface="+mn-ea"/>
              </a:rPr>
              <a:t>交付复盘力</a:t>
            </a:r>
            <a:endParaRPr lang="en-US" sz="3600" dirty="0">
              <a:solidFill>
                <a:srgbClr val="F0EDE4"/>
              </a:solidFill>
              <a:latin typeface="Noto Sans CJK SC Black" pitchFamily="34" charset="0"/>
              <a:ea typeface="Noto Sans CJK SC Black" pitchFamily="34" charset="-122"/>
              <a:cs typeface="Noto Sans CJK SC Black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0425" y="169418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24548" y="2286000"/>
            <a:ext cx="3108960" cy="3108960"/>
          </a:xfrm>
          <a:prstGeom prst="ellipse">
            <a:avLst/>
          </a:prstGeom>
          <a:ln w="12700">
            <a:solidFill>
              <a:srgbClr val="2E333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307428" y="3611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DELIVERY LOOP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05876" y="221284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5" name="Text 23"/>
          <p:cNvSpPr/>
          <p:nvPr/>
        </p:nvSpPr>
        <p:spPr>
          <a:xfrm>
            <a:off x="8130388" y="1828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方案完成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05059" y="2668145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7" name="Text 25"/>
          <p:cNvSpPr/>
          <p:nvPr/>
        </p:nvSpPr>
        <p:spPr>
          <a:xfrm>
            <a:off x="9682176" y="237783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检查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160356" y="376732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9" name="Text 27"/>
          <p:cNvSpPr/>
          <p:nvPr/>
        </p:nvSpPr>
        <p:spPr>
          <a:xfrm>
            <a:off x="10324948" y="3703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风险确认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05059" y="4866511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1" name="Text 29"/>
          <p:cNvSpPr/>
          <p:nvPr/>
        </p:nvSpPr>
        <p:spPr>
          <a:xfrm>
            <a:off x="9682176" y="502880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客户确认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05876" y="532180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3" name="Text 31"/>
          <p:cNvSpPr/>
          <p:nvPr/>
        </p:nvSpPr>
        <p:spPr>
          <a:xfrm>
            <a:off x="8130388" y="5577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正式交付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06692" y="4866511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5" name="Text 33"/>
          <p:cNvSpPr/>
          <p:nvPr/>
        </p:nvSpPr>
        <p:spPr>
          <a:xfrm>
            <a:off x="6578599" y="502880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案例复盘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51396" y="3767328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7" name="Text 35"/>
          <p:cNvSpPr/>
          <p:nvPr/>
        </p:nvSpPr>
        <p:spPr>
          <a:xfrm>
            <a:off x="5935828" y="3703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方法沉淀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06692" y="2668145"/>
            <a:ext cx="146304" cy="146304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9" name="Text 37"/>
          <p:cNvSpPr/>
          <p:nvPr/>
        </p:nvSpPr>
        <p:spPr>
          <a:xfrm>
            <a:off x="6578599" y="237783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下一次服务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成熟导师不依赖临场发挥。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成熟导师依赖稳定的方法、流程与标准。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21</a:t>
            </a:r>
            <a:endParaRPr lang="en-US" sz="800" dirty="0"/>
          </a:p>
        </p:txBody>
      </p:sp>
      <p:pic>
        <p:nvPicPr>
          <p:cNvPr id="44" name="图片 43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03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MENTOR CAPABILITY MAP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建立专业标准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ALL CONVERGES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3892550" cy="892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真实咨询中，八项能力从来不是分开工作的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9780" y="19837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55918" y="3063240"/>
            <a:ext cx="1188720" cy="118872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7" name="Text 5"/>
          <p:cNvSpPr/>
          <p:nvPr/>
        </p:nvSpPr>
        <p:spPr>
          <a:xfrm>
            <a:off x="6655918" y="30403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一个真实家庭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18758" y="6858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578分 / 1.2万位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8758" y="9601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数据分析力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9177" y="14357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云南 / 省外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9177" y="17100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院校判断力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79078" y="3246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计算机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79078" y="352044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04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专业理解力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9177" y="50565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学生想出去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9177" y="53308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05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学生洞察力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8758" y="5806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家长不同意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8758" y="60807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07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沟通咨询力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8338" y="50565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到底怎么排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8338" y="53308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06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方案设计力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58438" y="3246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会不会退档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58438" y="352044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政策规则力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8338" y="14357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怎么确认交付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8338" y="17100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08 </a:t>
            </a:r>
            <a:r>
              <a:rPr lang="en-US" sz="1100" dirty="0">
                <a:solidFill>
                  <a:srgbClr val="F26A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交付复盘力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9780" y="4229100"/>
            <a:ext cx="3173730" cy="155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一个真实家庭，就是一场完整的能力考试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22</a:t>
            </a:r>
            <a:endParaRPr lang="en-US" sz="800" dirty="0"/>
          </a:p>
        </p:txBody>
      </p:sp>
      <p:cxnSp>
        <p:nvCxnSpPr>
          <p:cNvPr id="35" name="直接连接符 34"/>
          <p:cNvCxnSpPr>
            <a:stCxn id="10" idx="2"/>
            <a:endCxn id="6" idx="0"/>
          </p:cNvCxnSpPr>
          <p:nvPr/>
        </p:nvCxnSpPr>
        <p:spPr>
          <a:xfrm>
            <a:off x="7250430" y="1188720"/>
            <a:ext cx="0" cy="18745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6" idx="7"/>
            <a:endCxn id="13" idx="2"/>
          </p:cNvCxnSpPr>
          <p:nvPr/>
        </p:nvCxnSpPr>
        <p:spPr>
          <a:xfrm flipV="1">
            <a:off x="7670800" y="1938655"/>
            <a:ext cx="1390015" cy="129857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7" idx="3"/>
          </p:cNvCxnSpPr>
          <p:nvPr/>
        </p:nvCxnSpPr>
        <p:spPr>
          <a:xfrm>
            <a:off x="7844790" y="3634740"/>
            <a:ext cx="144653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6" idx="5"/>
            <a:endCxn id="18" idx="0"/>
          </p:cNvCxnSpPr>
          <p:nvPr/>
        </p:nvCxnSpPr>
        <p:spPr>
          <a:xfrm>
            <a:off x="7670800" y="4077970"/>
            <a:ext cx="1390015" cy="97853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7" idx="2"/>
            <a:endCxn id="21" idx="0"/>
          </p:cNvCxnSpPr>
          <p:nvPr/>
        </p:nvCxnSpPr>
        <p:spPr>
          <a:xfrm>
            <a:off x="7250430" y="4229100"/>
            <a:ext cx="0" cy="157734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6" idx="3"/>
            <a:endCxn id="24" idx="0"/>
          </p:cNvCxnSpPr>
          <p:nvPr/>
        </p:nvCxnSpPr>
        <p:spPr>
          <a:xfrm flipH="1">
            <a:off x="5440045" y="4077970"/>
            <a:ext cx="1390015" cy="97853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7" idx="1"/>
          </p:cNvCxnSpPr>
          <p:nvPr/>
        </p:nvCxnSpPr>
        <p:spPr>
          <a:xfrm flipH="1">
            <a:off x="5192395" y="3634740"/>
            <a:ext cx="146367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6" idx="1"/>
            <a:endCxn id="31" idx="2"/>
          </p:cNvCxnSpPr>
          <p:nvPr/>
        </p:nvCxnSpPr>
        <p:spPr>
          <a:xfrm flipH="1" flipV="1">
            <a:off x="5440045" y="1938655"/>
            <a:ext cx="1390015" cy="129857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" name="图片 42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4114800" cy="3200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0" dirty="0">
                <a:solidFill>
                  <a:srgbClr val="1C202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384048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看见成长路径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49377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从第一天起，就面向独立交付。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04 /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看见成长路径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pic>
        <p:nvPicPr>
          <p:cNvPr id="17" name="图片 1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04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GROWTH JOURNEY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看见成长路径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AVOID PSEUDO-EXPERTISE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从第一天开始，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就避免这 5 种「伪专业」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468880"/>
            <a:ext cx="1920240" cy="82296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背很多大学资料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≠ 专业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2880360"/>
            <a:ext cx="1737360" cy="0"/>
          </a:xfrm>
          <a:prstGeom prst="line">
            <a:avLst/>
          </a:prstGeom>
          <a:noFill/>
          <a:ln w="12700">
            <a:solidFill>
              <a:srgbClr val="6A6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27432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2468880"/>
            <a:ext cx="1920240" cy="82296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560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记很多录取分数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≠ 专业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2880360"/>
            <a:ext cx="1737360" cy="0"/>
          </a:xfrm>
          <a:prstGeom prst="line">
            <a:avLst/>
          </a:prstGeom>
          <a:noFill/>
          <a:ln w="12700">
            <a:solidFill>
              <a:srgbClr val="6A6F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7432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66360" y="2468880"/>
            <a:ext cx="1920240" cy="82296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560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会使用填报软件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≠ 专业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57800" y="2880360"/>
            <a:ext cx="1737360" cy="0"/>
          </a:xfrm>
          <a:prstGeom prst="line">
            <a:avLst/>
          </a:prstGeom>
          <a:noFill/>
          <a:ln w="12700">
            <a:solidFill>
              <a:srgbClr val="6A6F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27432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2468880"/>
            <a:ext cx="1920240" cy="82296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2560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替家长直接做决定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≠ 专业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60920" y="2880360"/>
            <a:ext cx="1737360" cy="0"/>
          </a:xfrm>
          <a:prstGeom prst="line">
            <a:avLst/>
          </a:prstGeom>
          <a:noFill/>
          <a:ln w="12700">
            <a:solidFill>
              <a:srgbClr val="6A6F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27432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72600" y="2468880"/>
            <a:ext cx="1920240" cy="822960"/>
          </a:xfrm>
          <a:prstGeom prst="rect">
            <a:avLst/>
          </a:prstGeom>
          <a:solidFill>
            <a:srgbClr val="1E222A"/>
          </a:solidFill>
          <a:ln w="6350">
            <a:solidFill>
              <a:srgbClr val="2E3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2560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一次猜中录取结果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≠ 专业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64040" y="2880360"/>
            <a:ext cx="1737360" cy="0"/>
          </a:xfrm>
          <a:prstGeom prst="line">
            <a:avLst/>
          </a:prstGeom>
          <a:noFill/>
          <a:ln w="12700">
            <a:solidFill>
              <a:srgbClr val="6A6F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67248" y="34747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↓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真正的专业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295248" y="4663440"/>
            <a:ext cx="2926080" cy="822960"/>
          </a:xfrm>
          <a:prstGeom prst="rect">
            <a:avLst/>
          </a:prstGeom>
          <a:solidFill>
            <a:srgbClr val="F26A2E"/>
          </a:solidFill>
        </p:spPr>
      </p:sp>
      <p:sp>
        <p:nvSpPr>
          <p:cNvPr id="34" name="Text 32"/>
          <p:cNvSpPr/>
          <p:nvPr/>
        </p:nvSpPr>
        <p:spPr>
          <a:xfrm>
            <a:off x="1478128" y="47548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EVIDENCE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78128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有依据的判断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21328" y="484632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EDE4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4632808" y="4663440"/>
            <a:ext cx="2926080" cy="822960"/>
          </a:xfrm>
          <a:prstGeom prst="rect">
            <a:avLst/>
          </a:prstGeom>
          <a:solidFill>
            <a:srgbClr val="F26A2E"/>
          </a:solidFill>
        </p:spPr>
      </p:sp>
      <p:sp>
        <p:nvSpPr>
          <p:cNvPr id="38" name="Text 36"/>
          <p:cNvSpPr/>
          <p:nvPr/>
        </p:nvSpPr>
        <p:spPr>
          <a:xfrm>
            <a:off x="4815688" y="47548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5688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可解释的过程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558888" y="484632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EDE4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+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7970368" y="4663440"/>
            <a:ext cx="2926080" cy="822960"/>
          </a:xfrm>
          <a:prstGeom prst="rect">
            <a:avLst/>
          </a:prstGeom>
          <a:solidFill>
            <a:srgbClr val="F26A2E"/>
          </a:solidFill>
        </p:spPr>
      </p:sp>
      <p:sp>
        <p:nvSpPr>
          <p:cNvPr id="42" name="Text 40"/>
          <p:cNvSpPr/>
          <p:nvPr/>
        </p:nvSpPr>
        <p:spPr>
          <a:xfrm>
            <a:off x="8153248" y="47548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DELIVERY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53248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稳定的交付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23</a:t>
            </a:r>
            <a:endParaRPr lang="en-US" sz="800" dirty="0"/>
          </a:p>
        </p:txBody>
      </p:sp>
      <p:pic>
        <p:nvPicPr>
          <p:cNvPr id="46" name="图片 45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04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GROWTH JOURNEY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看见成长路径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GROWTH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从新人到独立导师，你会经历四个阶段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5029200"/>
            <a:ext cx="10058400" cy="0"/>
          </a:xfrm>
          <a:prstGeom prst="line">
            <a:avLst/>
          </a:prstGeom>
          <a:noFill/>
          <a:ln w="12700">
            <a:solidFill>
              <a:srgbClr val="2E3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822065"/>
            <a:ext cx="2377440" cy="1390015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977640"/>
            <a:ext cx="548640" cy="32004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4241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建立认知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4526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知道要学什么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330" y="4909820"/>
            <a:ext cx="2011680" cy="255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职业 · 规则 · 框架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31136" y="4974336"/>
            <a:ext cx="109728" cy="109728"/>
          </a:xfrm>
          <a:prstGeom prst="ellipse">
            <a:avLst/>
          </a:prstGeom>
          <a:solidFill>
            <a:srgbClr val="6A6F7D"/>
          </a:solidFill>
        </p:spPr>
      </p:sp>
      <p:sp>
        <p:nvSpPr>
          <p:cNvPr id="13" name="Text 11"/>
          <p:cNvSpPr/>
          <p:nvPr/>
        </p:nvSpPr>
        <p:spPr>
          <a:xfrm>
            <a:off x="3474720" y="46634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3657600"/>
            <a:ext cx="2377440" cy="155448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794760"/>
            <a:ext cx="548640" cy="32004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4114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掌握方法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0" y="4480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知道怎么判断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846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政策 · 数据 · 院校 · 专业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91456" y="4974336"/>
            <a:ext cx="109728" cy="109728"/>
          </a:xfrm>
          <a:prstGeom prst="ellipse">
            <a:avLst/>
          </a:prstGeom>
          <a:solidFill>
            <a:srgbClr val="6A6F7D"/>
          </a:solidFill>
        </p:spPr>
      </p:sp>
      <p:sp>
        <p:nvSpPr>
          <p:cNvPr id="20" name="Text 18"/>
          <p:cNvSpPr/>
          <p:nvPr/>
        </p:nvSpPr>
        <p:spPr>
          <a:xfrm>
            <a:off x="6035040" y="393192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2926080"/>
            <a:ext cx="2377440" cy="228600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063240"/>
            <a:ext cx="548640" cy="32004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学会咨询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知道怎么解决问题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1148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 · 家庭 · 沟通 · 方案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51776" y="4974336"/>
            <a:ext cx="109728" cy="109728"/>
          </a:xfrm>
          <a:prstGeom prst="ellipse">
            <a:avLst/>
          </a:prstGeom>
          <a:solidFill>
            <a:srgbClr val="6A6F7D"/>
          </a:solidFill>
        </p:spPr>
      </p:sp>
      <p:sp>
        <p:nvSpPr>
          <p:cNvPr id="27" name="Text 25"/>
          <p:cNvSpPr/>
          <p:nvPr/>
        </p:nvSpPr>
        <p:spPr>
          <a:xfrm>
            <a:off x="8595360" y="320040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78240" y="2194560"/>
            <a:ext cx="2377440" cy="3017520"/>
          </a:xfrm>
          <a:prstGeom prst="rect">
            <a:avLst/>
          </a:prstGeom>
          <a:solidFill>
            <a:srgbClr val="F26A2E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2331720"/>
            <a:ext cx="548640" cy="32004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0121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26517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01218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独立交付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961120" y="30175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可以服务真实家庭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33832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案例 · 实操 · 复盘 · 标准化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912096" y="497433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4" name="Text 32"/>
          <p:cNvSpPr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我们学习的终点，不是考试。而是独立交付。</a:t>
            </a:r>
            <a:endParaRPr lang="en-US" sz="1400" b="1" dirty="0"/>
          </a:p>
        </p:txBody>
      </p:sp>
      <p:sp>
        <p:nvSpPr>
          <p:cNvPr id="35" name="Text 33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24</a:t>
            </a:r>
            <a:endParaRPr lang="en-US" sz="800" dirty="0"/>
          </a:p>
        </p:txBody>
      </p:sp>
      <p:pic>
        <p:nvPicPr>
          <p:cNvPr id="37" name="图片 3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04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GROWTH JOURNEY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看见成长路径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60-HOUR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接下来 60 节课164</a:t>
            </a:r>
            <a:r>
              <a:rPr lang="zh-CN" altLang="en-US" sz="2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个小节</a:t>
            </a:r>
            <a:r>
              <a:rPr lang="en-US" sz="2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，就是把这张能力地图走一遍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697480"/>
            <a:ext cx="10058400" cy="0"/>
          </a:xfrm>
          <a:prstGeom prst="line">
            <a:avLst/>
          </a:prstGeom>
          <a:noFill/>
          <a:ln w="12700">
            <a:solidFill>
              <a:srgbClr val="2E3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86000"/>
            <a:ext cx="123444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职业与基础认知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22476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1" name="Text 9"/>
          <p:cNvSpPr/>
          <p:nvPr/>
        </p:nvSpPr>
        <p:spPr>
          <a:xfrm>
            <a:off x="2176272" y="2560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04288" y="2286000"/>
            <a:ext cx="123444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II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50008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政策规则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66644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16" name="Text 14"/>
          <p:cNvSpPr/>
          <p:nvPr/>
        </p:nvSpPr>
        <p:spPr>
          <a:xfrm>
            <a:off x="3520440" y="2560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48456" y="2286000"/>
            <a:ext cx="123444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III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94176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数据方法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10812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1" name="Text 19"/>
          <p:cNvSpPr/>
          <p:nvPr/>
        </p:nvSpPr>
        <p:spPr>
          <a:xfrm>
            <a:off x="4864608" y="2560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92624" y="2286000"/>
            <a:ext cx="123444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IV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38344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院校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54980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26" name="Text 24"/>
          <p:cNvSpPr/>
          <p:nvPr/>
        </p:nvSpPr>
        <p:spPr>
          <a:xfrm>
            <a:off x="6208776" y="2560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36792" y="2286000"/>
            <a:ext cx="123444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99148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1" name="Text 29"/>
          <p:cNvSpPr/>
          <p:nvPr/>
        </p:nvSpPr>
        <p:spPr>
          <a:xfrm>
            <a:off x="7552944" y="2560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2286000"/>
            <a:ext cx="123444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VI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26680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学生规划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43316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36" name="Text 34"/>
          <p:cNvSpPr/>
          <p:nvPr/>
        </p:nvSpPr>
        <p:spPr>
          <a:xfrm>
            <a:off x="8897112" y="2560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25128" y="2286000"/>
            <a:ext cx="1234440" cy="82296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25128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VII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70848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方案与咨询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87484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1" name="Text 39"/>
          <p:cNvSpPr/>
          <p:nvPr/>
        </p:nvSpPr>
        <p:spPr>
          <a:xfrm>
            <a:off x="10241280" y="2560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69296" y="2286000"/>
            <a:ext cx="1234440" cy="822960"/>
          </a:xfrm>
          <a:prstGeom prst="rect">
            <a:avLst/>
          </a:prstGeom>
          <a:solidFill>
            <a:srgbClr val="F26A2E"/>
          </a:solidFill>
          <a:ln w="9525">
            <a:solidFill>
              <a:srgbClr val="F26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69296" y="23774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21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VIII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15016" y="26060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实战与交付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31652" y="2642616"/>
            <a:ext cx="109728" cy="109728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46" name="Text 44"/>
          <p:cNvSpPr/>
          <p:nvPr/>
        </p:nvSpPr>
        <p:spPr>
          <a:xfrm>
            <a:off x="822960" y="3657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整体成长主线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2960" y="3931920"/>
            <a:ext cx="105156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8872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认知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743200" y="4114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97180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知识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526280" y="4114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75488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方法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309360" y="4114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3796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判断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092440" y="4114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32104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实操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875520" y="4114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10412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交付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后续每一节课，都不是孤立知识，而是在补全导师能力地图中的一块能力。</a:t>
            </a:r>
            <a:endParaRPr lang="en-US" sz="1300" b="1" dirty="0"/>
          </a:p>
        </p:txBody>
      </p:sp>
      <p:sp>
        <p:nvSpPr>
          <p:cNvPr id="60" name="Text 58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25</a:t>
            </a:r>
            <a:endParaRPr lang="en-US" sz="800" dirty="0"/>
          </a:p>
        </p:txBody>
      </p:sp>
      <p:pic>
        <p:nvPicPr>
          <p:cNvPr id="62" name="图片 61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04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GROWTH JOURNEY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看见成长路径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GRADUATION STANDARD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最终的毕业标准，其实只有一个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独立服务一个真实家庭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到那时，你应该能够独立完成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804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948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808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接待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6392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536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396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诊断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8980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124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0984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分析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568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712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572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筛选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156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300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160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设计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6744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888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8748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讲解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9332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476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1336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风险提示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119208" y="3474720"/>
            <a:ext cx="1234440" cy="594360"/>
          </a:xfrm>
          <a:prstGeom prst="rect">
            <a:avLst/>
          </a:prstGeom>
          <a:solidFill>
            <a:srgbClr val="1E222A"/>
          </a:solidFill>
          <a:ln w="6350">
            <a:solidFill>
              <a:srgbClr val="F26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10648" y="3520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39248" y="347472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交付复盘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能独立解决问题，才叫真正学会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4114800" y="5577840"/>
            <a:ext cx="3931920" cy="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26</a:t>
            </a:r>
            <a:endParaRPr lang="en-US" sz="800" dirty="0"/>
          </a:p>
        </p:txBody>
      </p:sp>
      <p:pic>
        <p:nvPicPr>
          <p:cNvPr id="36" name="图片 35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4114800" cy="3200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0" dirty="0">
                <a:solidFill>
                  <a:srgbClr val="1C202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384048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建立职业身份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49377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工具提供答案，导师提供判断。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05 /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建立职业身份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pic>
        <p:nvPicPr>
          <p:cNvPr id="17" name="图片 16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05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BECOME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建立职业身份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PROFESSIONAL CHARACTER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我们最终想培养的，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不是「会填志愿的人」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3968" y="2286000"/>
            <a:ext cx="0" cy="274320"/>
          </a:xfrm>
          <a:prstGeom prst="line">
            <a:avLst/>
          </a:prstGeom>
          <a:noFill/>
          <a:ln w="25400">
            <a:solidFill>
              <a:srgbClr val="F26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48" y="25603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专业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026768" y="3291840"/>
            <a:ext cx="9144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048" y="347472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有自己的判断。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判断来自政策、数据、规则与事实，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而不是经验和感觉。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2286000"/>
            <a:ext cx="0" cy="274320"/>
          </a:xfrm>
          <a:prstGeom prst="line">
            <a:avLst/>
          </a:prstGeom>
          <a:noFill/>
          <a:ln w="25400">
            <a:solidFill>
              <a:srgbClr val="F26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9928" y="25603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负责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38648" y="3291840"/>
            <a:ext cx="9144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9928" y="347472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知道每一个建议背后，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都是一个真实学生未来几年的发展。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不轻易承诺，不把风险藏起来。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07728" y="2286000"/>
            <a:ext cx="0" cy="274320"/>
          </a:xfrm>
          <a:prstGeom prst="line">
            <a:avLst/>
          </a:prstGeom>
          <a:noFill/>
          <a:ln w="25400">
            <a:solidFill>
              <a:srgbClr val="F26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1808" y="25603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可信赖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9250528" y="3291840"/>
            <a:ext cx="9144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1808" y="347472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能够听懂家庭真正的需求。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能够把复杂问题讲清楚。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能够让自己的判断经得起追问。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专业 · 负责 · 可信赖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这是格知导师最基本的职业底色。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27</a:t>
            </a:r>
            <a:endParaRPr lang="en-US" sz="800" dirty="0"/>
          </a:p>
        </p:txBody>
      </p:sp>
      <p:pic>
        <p:nvPicPr>
          <p:cNvPr id="23" name="图片 22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05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BECOME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建立职业身份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TOOLS vs MENTOR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当工具越来越强，导师还有什么价值？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4846320" cy="2743200"/>
          </a:xfrm>
          <a:prstGeom prst="rect">
            <a:avLst/>
          </a:prstGeom>
          <a:solidFill>
            <a:srgbClr val="1E222A"/>
          </a:solidFill>
          <a:ln w="9525">
            <a:solidFill>
              <a:srgbClr val="2E3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6A6F7D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TOOLS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工具越来越擅长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834640"/>
            <a:ext cx="429768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175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  </a:t>
            </a: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查信息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  </a:t>
            </a: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找数据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  </a:t>
            </a: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做计算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  </a:t>
            </a: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筛选院校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·  </a:t>
            </a:r>
            <a:r>
              <a:rPr lang="en-US" sz="1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生成候选结果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011680"/>
            <a:ext cx="4846320" cy="2743200"/>
          </a:xfrm>
          <a:prstGeom prst="rect">
            <a:avLst/>
          </a:prstGeom>
          <a:solidFill>
            <a:srgbClr val="F26A2E"/>
          </a:solidFill>
        </p:spPr>
      </p:sp>
      <p:sp>
        <p:nvSpPr>
          <p:cNvPr id="16" name="Text 14"/>
          <p:cNvSpPr/>
          <p:nvPr/>
        </p:nvSpPr>
        <p:spPr>
          <a:xfrm>
            <a:off x="6766560" y="2194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101218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MENTOR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25146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但真正的家庭决策依然需要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297680" cy="0"/>
          </a:xfrm>
          <a:prstGeom prst="line">
            <a:avLst/>
          </a:prstGeom>
          <a:noFill/>
          <a:ln w="9525">
            <a:solidFill>
              <a:srgbClr val="1012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0175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4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理解一个人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337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4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权衡不同选择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36576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4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解释专业判断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9776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4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处理家庭分歧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42976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21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  </a:t>
            </a:r>
            <a:r>
              <a:rPr lang="en-US" sz="1400" dirty="0">
                <a:solidFill>
                  <a:srgbClr val="101218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对专业建议负责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solidFill>
            <a:srgbClr val="1A1D24"/>
          </a:solidFill>
          <a:ln w="12700">
            <a:solidFill>
              <a:srgbClr val="F26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工具提供答案</a:t>
            </a:r>
            <a:r>
              <a:rPr lang="en-US" sz="26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  ·    </a:t>
            </a:r>
            <a:r>
              <a:rPr lang="en-US" sz="26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导师提供判断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信息可以被搜索，数据可以被系统计算。但「什么更适合这个学生」，仍然需要专业判断。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28</a:t>
            </a:r>
            <a:endParaRPr lang="en-US" sz="800" dirty="0"/>
          </a:p>
        </p:txBody>
      </p:sp>
      <p:pic>
        <p:nvPicPr>
          <p:cNvPr id="29" name="图片 28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05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BECOME A MENTOR</a:t>
            </a:r>
            <a:r>
              <a:rPr lang="en-US" sz="900" dirty="0">
                <a:solidFill>
                  <a:srgbClr val="A0A6B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</a:t>
            </a:r>
            <a:r>
              <a:rPr lang="en-US" sz="9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建立职业身份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从今天开始，重新理解「高考志愿规划」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4572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295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01</a:t>
            </a:r>
            <a:endParaRPr lang="en-US" sz="3295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重新理解志愿填报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志愿规划不是填一张表，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而是在重要人生节点帮助学生完成一次选择。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3108960"/>
            <a:ext cx="91440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731520" cy="4572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295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02</a:t>
            </a:r>
            <a:endParaRPr lang="en-US" sz="3295" dirty="0"/>
          </a:p>
        </p:txBody>
      </p:sp>
      <p:sp>
        <p:nvSpPr>
          <p:cNvPr id="11" name="Text 9"/>
          <p:cNvSpPr/>
          <p:nvPr/>
        </p:nvSpPr>
        <p:spPr>
          <a:xfrm>
            <a:off x="1737360" y="3246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重新理解导师价值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6576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导师的专业，不在于知道多少信息，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而在于能否做出有依据的判断。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4297680"/>
            <a:ext cx="9144000" cy="0"/>
          </a:xfrm>
          <a:prstGeom prst="line">
            <a:avLst/>
          </a:prstGeom>
          <a:noFill/>
          <a:ln w="9525">
            <a:solidFill>
              <a:srgbClr val="2E3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89120"/>
            <a:ext cx="731520" cy="4572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295" dirty="0">
                <a:solidFill>
                  <a:srgbClr val="F26A2E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03</a:t>
            </a:r>
            <a:endParaRPr lang="en-US" sz="3295" dirty="0"/>
          </a:p>
        </p:txBody>
      </p:sp>
      <p:sp>
        <p:nvSpPr>
          <p:cNvPr id="15" name="Text 13"/>
          <p:cNvSpPr/>
          <p:nvPr/>
        </p:nvSpPr>
        <p:spPr>
          <a:xfrm>
            <a:off x="1737360" y="44348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重新理解接下来的学习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4846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后面的每一门课程，最终都要回到一个目标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——独立解决真实家庭的问题。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从「高考志愿知识」</a:t>
            </a:r>
            <a:r>
              <a:rPr lang="en-US" sz="1600" b="1" dirty="0">
                <a:solidFill>
                  <a:srgbClr val="F26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r>
              <a:rPr lang="en-US" sz="20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导师能力体系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02975" y="6537960"/>
            <a:ext cx="36576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29</a:t>
            </a:r>
            <a:endParaRPr lang="en-US" sz="800" dirty="0"/>
          </a:p>
        </p:txBody>
      </p:sp>
      <p:pic>
        <p:nvPicPr>
          <p:cNvPr id="20" name="图片 19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835" y="43180"/>
            <a:ext cx="71691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C20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371600" y="3163570"/>
            <a:ext cx="9065260" cy="36830"/>
          </a:xfrm>
          <a:prstGeom prst="line">
            <a:avLst/>
          </a:prstGeom>
          <a:noFill/>
          <a:ln w="19050">
            <a:solidFill>
              <a:srgbClr val="F26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9400" y="3109214"/>
            <a:ext cx="91440" cy="91440"/>
          </a:xfrm>
          <a:prstGeom prst="ellipse">
            <a:avLst/>
          </a:prstGeom>
          <a:solidFill>
            <a:srgbClr val="F26A2E"/>
          </a:solidFill>
        </p:spPr>
      </p:sp>
      <p:sp>
        <p:nvSpPr>
          <p:cNvPr id="5" name="Shape 3"/>
          <p:cNvSpPr/>
          <p:nvPr/>
        </p:nvSpPr>
        <p:spPr>
          <a:xfrm>
            <a:off x="1298448" y="3163824"/>
            <a:ext cx="91440" cy="91440"/>
          </a:xfrm>
          <a:prstGeom prst="ellipse">
            <a:avLst/>
          </a:prstGeom>
          <a:solidFill>
            <a:srgbClr val="C4A96A"/>
          </a:solidFill>
        </p:spPr>
      </p:sp>
      <p:sp>
        <p:nvSpPr>
          <p:cNvPr id="6" name="Text 4"/>
          <p:cNvSpPr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0EDE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从今天开始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成为一名真正的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高考志愿规划师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把知识变成判断，把判断变成方案，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A0A6B4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把方案变成值得信赖的服务。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61008" y="5669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职业认知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72688" y="56692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47008" y="5669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专业能力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58688" y="56692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3008" y="5669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实战训练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44688" y="56692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19008" y="5669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6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独立交付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4A96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GEZHI NAVIGATOR</a:t>
            </a:r>
            <a:r>
              <a:rPr lang="en-US" sz="1000" dirty="0">
                <a:solidFill>
                  <a:srgbClr val="6A6F7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|  </a:t>
            </a:r>
            <a:r>
              <a:rPr lang="en-US" sz="1000" dirty="0">
                <a:solidFill>
                  <a:srgbClr val="6A6F7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格知导师计划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6895" y="649224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F7D"/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知无涯 · 行有格</a:t>
            </a:r>
            <a:endParaRPr lang="en-US" sz="1000" dirty="0"/>
          </a:p>
        </p:txBody>
      </p:sp>
      <p:pic>
        <p:nvPicPr>
          <p:cNvPr id="19" name="图片 18" descr="logo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6815" y="37465"/>
            <a:ext cx="1941195" cy="15474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2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3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4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5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6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7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8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9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10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11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12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13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14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15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ags/tag16.xml><?xml version="1.0" encoding="utf-8"?>
<p:tagLst xmlns:p="http://schemas.openxmlformats.org/presentationml/2006/main">
  <p:tag name="KSO_WM_DIAGRAM_VIRTUALLY_FRAME" val="{&quot;height&quot;:284.4,&quot;left&quot;:100.8,&quot;top&quot;:201.6,&quot;width&quot;:76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6304</Words>
  <Application>WPS 演示</Application>
  <PresentationFormat>On-screen Show (16:9)</PresentationFormat>
  <Paragraphs>1607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63" baseType="lpstr">
      <vt:lpstr>Arial</vt:lpstr>
      <vt:lpstr>宋体</vt:lpstr>
      <vt:lpstr>Wingdings</vt:lpstr>
      <vt:lpstr>Roboto Medium</vt:lpstr>
      <vt:lpstr>Roboto Medium</vt:lpstr>
      <vt:lpstr>Roboto Medium</vt:lpstr>
      <vt:lpstr>Noto Sans CJK SC Black</vt:lpstr>
      <vt:lpstr>Noto Sans CJK SC Black</vt:lpstr>
      <vt:lpstr>Noto Sans CJK SC Black</vt:lpstr>
      <vt:lpstr>Noto Sans CJK SC Medium</vt:lpstr>
      <vt:lpstr>Noto Sans CJK SC Medium</vt:lpstr>
      <vt:lpstr>Noto Sans CJK SC Medium</vt:lpstr>
      <vt:lpstr>Noto Sans CJK SC Light</vt:lpstr>
      <vt:lpstr>Noto Sans CJK SC Light</vt:lpstr>
      <vt:lpstr>Noto Sans CJK SC Light</vt:lpstr>
      <vt:lpstr>Arial</vt:lpstr>
      <vt:lpstr>Roboto Black</vt:lpstr>
      <vt:lpstr>Roboto Black</vt:lpstr>
      <vt:lpstr>Roboto Black</vt:lpstr>
      <vt:lpstr>Calibri</vt:lpstr>
      <vt:lpstr>Noto Sans</vt:lpstr>
      <vt:lpstr>微软雅黑</vt:lpstr>
      <vt:lpstr>Arial Unicode MS</vt:lpstr>
      <vt:lpstr>等线</vt:lpstr>
      <vt:lpstr>Mona Medium</vt:lpstr>
      <vt:lpstr>Saturday Sans Regular</vt:lpstr>
      <vt:lpstr>Black coffees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格知教育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高考志愿规划师：职业定位与能力地图</dc:title>
  <dc:creator>GEZHI NAVIGATOR</dc:creator>
  <dc:subject>高考志愿规划师：职业定位与能力地图</dc:subject>
  <cp:lastModifiedBy>小朋友</cp:lastModifiedBy>
  <cp:revision>3</cp:revision>
  <dcterms:created xsi:type="dcterms:W3CDTF">2026-09-09T09:11:00Z</dcterms:created>
  <dcterms:modified xsi:type="dcterms:W3CDTF">2026-09-09T11:05:44Z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57E7189F0F27484AB7F684A34CFB2FFD_12</vt:lpwstr>
  </property>
</Properties>
</file>